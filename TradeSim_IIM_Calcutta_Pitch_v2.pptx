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 mapping: Financial Education. Tech mapping: FinTech. Hook comes on the next slide — do not introduce yourselves here; the slide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SEBI, 'Profitability of individual traders in the equity derivatives segment, FY25–FY26', press release 50/2026, 20 Aug 2026. FY26: 87.7% of individual traders lost; net loss ₹91,685 crore; average loss ₹1.17 lakh; 78.6 lakh active traders. FY25 (restated): ~₹1.12 lakh crore, 91% lost. Backup: Sept 2024 study — 93% lost, ₹1.8 lakh crore over FY22–24. If a judge says losses fell in FY26: yes, by design — SEBI tightened F&amp;O rules and 20% of traders left. The ones who stayed still lost 9 times 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SEBI study on trading behaviour of individual traders in equity derivatives, FY25–FY26 (Aug 2026): under-30s are 43% of traders (31% four years earlier); 89% of them lost (vs 81% for 60+); ~three-quarters of traders earn under ₹5 lakh/yr. SEBI Investor Survey 2025 (Sept 2025, 90,000+ households): 74% of non-investors cite complexity / information gaps; only 9.5% of households invest. NCFE 2019: 27% of Indians financially literate. The waffle shows 89 of 100 — the under-30 loss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the live build: the stock page (TATASTEEL, TradingView chart, order panel) and the room dashboard (room code, admin/user toggle, P&amp;L cards). If asked: order book, stop-loss, intraday vs delivery all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experience as a brokerage terminal — minus the ability to lose a rupee. Test room shown in screenshots used a ₹25 lakh virtual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AISHE 2023-24 (Ministry of Education, released July 2026) — total enrolment 4,50,01,123; 1,289 universities, 48,246 colleges. SAM: UG Commerce 40.8 lakh + UG Management 10.8 lakh + PG Management 10.4 lakh + PG Commerce 4.5 lakh + UG Engineering 43.9 lakh = 110.4 lakh ≈ 1.1 crore (same report). SOM: 1,00,000 = 60 colleges at ~1,000 relevant students plus organic B2C sign-ups; that is 0.12% of India's 48,246 colleges and under 1% of SAM. Youth stat: NSE Market Pulse July 2026 — 59% of new registrations Apr-Jun 2026 were under 30; median investor age 33; 13.2 crore unique investors. India edtech market USD 7.5 bn, projected USD 29 bn by 2030 (IAMAI / Grant Thornton Bharat, Jan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happened: 100 MBA students onboarded, one competition room hosted end-to-end, on real market data. Do not inflate. If asked for feedback scores, say they are being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anchors (all fetched Sept 2026): Seekho ₹149/month, ₹599/year. Sensibull Lite ₹480/month, Pro ₹800–1,300/month — the only Indian paid paper-trading product. TradingView Essential ₹995/month. StockSim Plus ₹1,199/month. Campus SaaS benchmark: Drishti EdOS publishes ₹99 / ₹179 / ₹279 per student per year with ₹35k–95k minimums. Indian colleges' edtech budgets run ₹5–50 lakh a year. No major broker sells paper trading — Zerodha bundles Sensibull free. So ₹199/student/yr sits inside the campus band and 2.4x below one month of Sensibull.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mix at 1,00,000: 60,000 institutional (60 colleges × ~1,000 students), 39,000 free, 1,000 paid individuals (2.5% of B2C users; RevenueCat 2026 median download-to-paid is 2.18%). Revenue: 60,000 × ₹199 = ₹1.19 Cr; 39,000 × ₹40 ad ARPU = ₹15.6 L (India AdMob eCPM ≈ $0.30; ShareChat earns ₹36/user/yr all-in); 1,000 × ₹999 = ₹10 L. Total ₹1.45 Cr. Cost: 3 engineers ₹3.5 L/month = ₹42 L; B2B sales 60 colleges × ₹80,000 CAC = ₹48 L (60–120 day cycle); cloud ₹2.5 L/month = ₹30 L; market-data licence ₹10 L — an assumption: NSE vendor licence plus per-end-user fees, price list not public; ops/support ₹10 L. Total ₹1.40 Cr. Founders' faculty time not costed. Judges will push on the data-licence line: say it is a budgeted assumption; every ₹5 L on that line moves year-1 result by ₹5 L, and year-2 margin absorbs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1: 60 colleges × ~1,000 relevant students plus organic sign-ups = 1,00,000; revenue ₹1.45 Cr at the slide-9 mix. Year 2: 150 colleges, 2,50,000 users, ₹3.6 Cr. Year 3: 300 colleges, 5,00,000 users, ₹7.3 Cr — 4.5% of the 1.1 crore SAM and 0.6% of India's 48,246 colleges. Go-to-market: IEM-UEM group campuses first, then West Bengal, then AICTE-approved management institutions (~3,500 nationally, AICTE 2024-25 — count unverified against the AICTE primary, quote as approximate).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is qualitative. Prices fetched Sept 2026: Sensibull Lite ₹480/mo (paper trading is in the paid tier; free for Zerodha users), TradingView Essential ₹995/mo annual, Seekho ₹149/mo, Moneybhai free (₹1 crore virtual), Zerodha Varsity free (certification ₹250 + GST), Investopedia simulator free but US-listed stocks only. Brokers: Zerodha Kite no native paper trading, Upstox demo tour only, Groww none, Dhan via Sensibull, Angel One none found. If asked 'why won't Zerodha just build this': brokers earn on real trades; a classroom simulator with a faculty admin view is not their business, and none of them sells to colleges.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column exists today. Be explicit that AI coaching and analytics are roadmap, and that the AI tier is what justifies a higher price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funding ask. The call to action is a campus partnership: a hosted competition room for their institution. End on the green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pic>
        <p:nvPicPr>
          <p:cNvPr id="5" name="Image 2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54000"/>
            <a:ext cx="655625" cy="457200"/>
          </a:xfrm>
          <a:prstGeom prst="rect">
            <a:avLst/>
          </a:prstGeom>
        </p:spPr>
      </p:pic>
      <p:pic>
        <p:nvPicPr>
          <p:cNvPr id="6" name="Image 3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5520" y="254000"/>
            <a:ext cx="640080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12800" y="1587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CALCUTTA · STARTUP PITCH · 2026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62000" y="1841500"/>
            <a:ext cx="825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11000" dirty="0"/>
          </a:p>
        </p:txBody>
      </p:sp>
      <p:sp>
        <p:nvSpPr>
          <p:cNvPr id="23" name="Text 16"/>
          <p:cNvSpPr txBox="1"/>
          <p:nvPr/>
        </p:nvSpPr>
        <p:spPr>
          <a:xfrm>
            <a:off x="812800" y="3556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the real market.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nothing but the fear.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 rot="-120000">
            <a:off x="812800" y="4483100"/>
            <a:ext cx="3556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100 MBA students at IEM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2800" y="5080000"/>
            <a:ext cx="1056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128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128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Saugata Ghosh · Prof. (Dr.) Subhadip Chandra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080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080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398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9398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493000" y="1270000"/>
            <a:ext cx="6350000" cy="6350000"/>
          </a:xfrm>
          <a:prstGeom prst="ellipse">
            <a:avLst/>
          </a:prstGeom>
          <a:solidFill>
            <a:srgbClr val="C1272D">
              <a:alpha val="8000"/>
            </a:srgbClr>
          </a:solidFill>
          <a:ln w="12700">
            <a:solidFill>
              <a:srgbClr val="C1272D">
                <a:alpha val="0"/>
              </a:srgbClr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7874000" y="762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rgbClr val="C1272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FY26</a:t>
            </a:r>
            <a:endParaRPr lang="en-US" sz="130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· EQUITY DERIVATIVES · ONE FINANCIAL YEAR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762000" y="1587500"/>
            <a:ext cx="1016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₹91,685 crore</a:t>
            </a:r>
            <a:endParaRPr lang="en-US" sz="10000" dirty="0"/>
          </a:p>
        </p:txBody>
      </p:sp>
      <p:sp>
        <p:nvSpPr>
          <p:cNvPr id="9" name="Text 4"/>
          <p:cNvSpPr txBox="1"/>
          <p:nvPr/>
        </p:nvSpPr>
        <p:spPr>
          <a:xfrm>
            <a:off x="812800" y="3111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individual traders in India last year — most of it by people learning to trade with real money.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8128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87.7%</a:t>
            </a:r>
            <a:endParaRPr lang="en-US" sz="3200" dirty="0"/>
          </a:p>
        </p:txBody>
      </p:sp>
      <p:sp>
        <p:nvSpPr>
          <p:cNvPr id="11" name="Text 6"/>
          <p:cNvSpPr txBox="1"/>
          <p:nvPr/>
        </p:nvSpPr>
        <p:spPr>
          <a:xfrm>
            <a:off x="8128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lost money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4163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556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₹1.17 lakh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3556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per trader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595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 lakh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people. In one year.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youngest traders lose the most.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812800" y="24765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5654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2362200" y="26289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F&amp;O traders are now under 30 — up from 31% four years ago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258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147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400" dirty="0"/>
          </a:p>
        </p:txBody>
      </p:sp>
      <p:sp>
        <p:nvSpPr>
          <p:cNvPr id="12" name="Text 7"/>
          <p:cNvSpPr txBox="1"/>
          <p:nvPr/>
        </p:nvSpPr>
        <p:spPr>
          <a:xfrm>
            <a:off x="2362200" y="33782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under-30s lost money — worse than any other age group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39751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0640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2362200" y="41275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under ₹5 lakh a year. They are learning on money they cannot afford to lose.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244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641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Indians who don't invest say the market is too complex. They don't need another video. They need a place to practise.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604000" y="952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TRADERS UNDER 30, ONE YEAR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0" y="1270000"/>
            <a:ext cx="4064000" cy="4064000"/>
          </a:xfrm>
          <a:prstGeom prst="roundRect">
            <a:avLst>
              <a:gd name="adj" fmla="val 27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C1272D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10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91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53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34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15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96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677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58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439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10400" y="1803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91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72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153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534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15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296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677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58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439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010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91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772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53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534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915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96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677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058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439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010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91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772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153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534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915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296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677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0058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0439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7010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391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7772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8153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534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915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9296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9677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0058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0439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7010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7391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772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153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534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915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9296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677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0058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10439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010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7391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7772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153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8534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915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9296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9677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10058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10439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010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7391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772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8153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8534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8915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296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9677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10058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10439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7010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7391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7772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153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534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15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9296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9677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10058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10439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7010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7391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7772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8153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8534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8915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296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9677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10058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39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7239000" y="5588000"/>
            <a:ext cx="177800" cy="1778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1" name="Text 116"/>
          <p:cNvSpPr txBox="1"/>
          <p:nvPr/>
        </p:nvSpPr>
        <p:spPr>
          <a:xfrm>
            <a:off x="7493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lost money</a:t>
            </a:r>
            <a:endParaRPr lang="en-US" sz="1300" dirty="0"/>
          </a:p>
        </p:txBody>
      </p:sp>
      <p:sp>
        <p:nvSpPr>
          <p:cNvPr id="122" name="Shape 117"/>
          <p:cNvSpPr/>
          <p:nvPr/>
        </p:nvSpPr>
        <p:spPr>
          <a:xfrm>
            <a:off x="9271000" y="5588000"/>
            <a:ext cx="177800" cy="1778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9525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made money</a:t>
            </a:r>
            <a:endParaRPr lang="en-US" sz="1300" dirty="0"/>
          </a:p>
        </p:txBody>
      </p:sp>
      <p:sp>
        <p:nvSpPr>
          <p:cNvPr id="124" name="Text 11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06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the real market. Lose nothing.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812800" y="25400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6416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1371600" y="26670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&amp; BSE prices — the same candles a broker terminal shows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893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909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34163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limit and stop orders; intraday and delivery; long and short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40386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1402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1656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host a room; every student starts with the same virtual corpus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879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895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9149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leaderboard ranks the room by P&amp;L — zero real money at risk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2800" y="55372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42000" y="812800"/>
            <a:ext cx="5537200" cy="5232400"/>
          </a:xfrm>
          <a:prstGeom prst="roundRect">
            <a:avLst>
              <a:gd name="adj" fmla="val 3495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21" name="Image 2" descr="/Users/deepansadhukhan/Documents/GitHub/Tradesim_IIM_CALCUTTA/shot-trading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1270000"/>
            <a:ext cx="5715000" cy="324485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pic>
        <p:nvPicPr>
          <p:cNvPr id="22" name="Image 3" descr="/Users/deepansadhukhan/Documents/GitHub/Tradesim_IIM_CALCUTTA/shot-room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5384800" y="3987800"/>
            <a:ext cx="3429000" cy="1949450"/>
          </a:xfrm>
          <a:prstGeom prst="rect">
            <a:avLst/>
          </a:prstGeom>
          <a:effectLst>
            <a:outerShdw sx="100000" sy="100000" kx="0" ky="0" algn="bl" rotWithShape="0" blurRad="101600" dist="127000" dir="2700000">
              <a:srgbClr val="E8A800">
                <a:alpha val="100000"/>
              </a:srgbClr>
            </a:outerShdw>
          </a:effectLst>
        </p:spPr>
      </p:pic>
      <p:sp>
        <p:nvSpPr>
          <p:cNvPr id="23" name="Text 16"/>
          <p:cNvSpPr txBox="1"/>
          <p:nvPr/>
        </p:nvSpPr>
        <p:spPr>
          <a:xfrm rot="180000">
            <a:off x="9296400" y="952500"/>
            <a:ext cx="190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feed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042400" y="5461000"/>
            <a:ext cx="215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 screens, Sept 2026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room. One corpus. One leaderboard.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97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trading competition, hosted by a teacher, in under five minutes.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398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9" name="Text 4"/>
          <p:cNvSpPr txBox="1"/>
          <p:nvPr/>
        </p:nvSpPr>
        <p:spPr>
          <a:xfrm>
            <a:off x="35814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10" name="Text 5"/>
          <p:cNvSpPr txBox="1"/>
          <p:nvPr/>
        </p:nvSpPr>
        <p:spPr>
          <a:xfrm>
            <a:off x="62230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11" name="Text 6"/>
          <p:cNvSpPr txBox="1"/>
          <p:nvPr/>
        </p:nvSpPr>
        <p:spPr>
          <a:xfrm>
            <a:off x="88646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12" name="Shape 7"/>
          <p:cNvSpPr/>
          <p:nvPr/>
        </p:nvSpPr>
        <p:spPr>
          <a:xfrm>
            <a:off x="812800" y="38100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737600" y="3810000"/>
            <a:ext cx="26416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128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128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opens a room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28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duration, the virtual corpus and the rules. Shares a room code.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4544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34544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34544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join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4544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with the same virtual capital. No demat, no KYC, no money.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960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0960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0960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trade the live market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0960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prices, real order types, real volatility. No real losses.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737600" y="3594100"/>
            <a:ext cx="508000" cy="5080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87376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737600" y="434340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decides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737600" y="4914900"/>
            <a:ext cx="264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live on realised + unrealised P&amp;L. Faculty sees every trade.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today. Investors next year.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 rot="120000">
            <a:off x="8191500" y="1333500"/>
            <a:ext cx="317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new NSE investors are under 30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939800" y="1968500"/>
            <a:ext cx="3937000" cy="3937000"/>
          </a:xfrm>
          <a:prstGeom prst="ellipse">
            <a:avLst/>
          </a:prstGeom>
          <a:solidFill>
            <a:srgbClr val="F9EBB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701800" y="3492500"/>
            <a:ext cx="2413000" cy="2413000"/>
          </a:xfrm>
          <a:prstGeom prst="ellipse">
            <a:avLst/>
          </a:prstGeom>
          <a:solidFill>
            <a:srgbClr val="0F7B4C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413000" y="4914900"/>
            <a:ext cx="990600" cy="99060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400300" y="22860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2400300" y="37465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400300" y="53086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76800" y="3175000"/>
            <a:ext cx="1143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4114800" y="4445000"/>
            <a:ext cx="1905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3403600" y="5410200"/>
            <a:ext cx="26162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6210300" y="2603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crore</a:t>
            </a:r>
            <a:endParaRPr lang="en-US" sz="4600" dirty="0"/>
          </a:p>
        </p:txBody>
      </p:sp>
      <p:sp>
        <p:nvSpPr>
          <p:cNvPr id="18" name="Text 13"/>
          <p:cNvSpPr txBox="1"/>
          <p:nvPr/>
        </p:nvSpPr>
        <p:spPr>
          <a:xfrm>
            <a:off x="6210300" y="3276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Indian higher education — tomorrow's first-time investors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0300" y="3937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crore</a:t>
            </a:r>
            <a:endParaRPr lang="en-US" sz="4600" dirty="0"/>
          </a:p>
        </p:txBody>
      </p:sp>
      <p:sp>
        <p:nvSpPr>
          <p:cNvPr id="20" name="Text 15"/>
          <p:cNvSpPr txBox="1"/>
          <p:nvPr/>
        </p:nvSpPr>
        <p:spPr>
          <a:xfrm>
            <a:off x="6210300" y="46101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commerce, management and engineering courses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0300" y="5016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3400" dirty="0"/>
          </a:p>
        </p:txBody>
      </p:sp>
      <p:sp>
        <p:nvSpPr>
          <p:cNvPr id="22" name="Text 17"/>
          <p:cNvSpPr txBox="1"/>
          <p:nvPr/>
        </p:nvSpPr>
        <p:spPr>
          <a:xfrm>
            <a:off x="6210300" y="55753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target: ~60 partner colleges, starting inside the IEM-UEM network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76200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— PROOF, NOT PROJECTION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587500"/>
            <a:ext cx="482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MBA students.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live room.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812800" y="2794000"/>
            <a:ext cx="482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at risk.</a:t>
            </a:r>
            <a:endParaRPr lang="en-US" sz="4000" dirty="0"/>
          </a:p>
        </p:txBody>
      </p:sp>
      <p:sp>
        <p:nvSpPr>
          <p:cNvPr id="9" name="Shape 4"/>
          <p:cNvSpPr/>
          <p:nvPr/>
        </p:nvSpPr>
        <p:spPr>
          <a:xfrm>
            <a:off x="812800" y="3556000"/>
            <a:ext cx="1651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12800" y="38100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IEM's MBA batch on live NSE/BSE data. The product on this screen is the product students are already using.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97600" y="1066800"/>
            <a:ext cx="5080000" cy="4064000"/>
          </a:xfrm>
          <a:prstGeom prst="roundRect">
            <a:avLst>
              <a:gd name="adj" fmla="val 4500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12" name="Image 2" descr="/Users/deepansadhukhan/Documents/GitHub/Tradesim_IIM_CALCUTTA/shot-portfolio-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47800"/>
            <a:ext cx="5207000" cy="295910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 rot="180000">
            <a:off x="9245600" y="1143000"/>
            <a:ext cx="20955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 MBA pilot · 2026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943600" y="4749800"/>
            <a:ext cx="5207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P&amp;L, positions and analytics — every trade auditable by faculty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698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never pay. Colleges do.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7823200" y="1270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Seekho (₹149/mo), Sensibull Lite (₹480/mo) and campus software at ₹99–279 per student per year.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812800" y="4191000"/>
            <a:ext cx="3175000" cy="1651000"/>
          </a:xfrm>
          <a:prstGeom prst="roundRect">
            <a:avLst>
              <a:gd name="adj" fmla="val 5538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1041400" y="4381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1041400" y="4635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8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5245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simulator, live data. Ads shown. No AI coach.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08500" y="3302000"/>
            <a:ext cx="3175000" cy="2540000"/>
          </a:xfrm>
          <a:prstGeom prst="roundRect">
            <a:avLst>
              <a:gd name="adj" fmla="val 36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4737100" y="3492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4737100" y="3746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₹149/mo</a:t>
            </a:r>
            <a:endParaRPr lang="en-US" sz="38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4356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₹999 a year. Ad-free. AI trade coach when it ships. Priced below one Sensibull month.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04200" y="2286000"/>
            <a:ext cx="3175000" cy="3556000"/>
          </a:xfrm>
          <a:prstGeom prst="roundRect">
            <a:avLst>
              <a:gd name="adj" fmla="val 2880"/>
            </a:avLst>
          </a:prstGeom>
          <a:solidFill>
            <a:srgbClr val="D6EFDF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432800" y="2476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432800" y="2730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₹199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3302000"/>
            <a:ext cx="273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year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minimum per college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937000"/>
            <a:ext cx="273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licenses its student strength. Students pay nothing. Faculty get admin rooms, cohort reports and every trade on record.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432800" y="52705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students = ₹1.99 L/yr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· AT 1,00,000 USERS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in year one. Margin on every renewal.</a:t>
            </a:r>
            <a:endParaRPr lang="en-US" sz="3200" dirty="0"/>
          </a:p>
        </p:txBody>
      </p:sp>
      <p:sp>
        <p:nvSpPr>
          <p:cNvPr id="7" name="Shape 2"/>
          <p:cNvSpPr/>
          <p:nvPr/>
        </p:nvSpPr>
        <p:spPr>
          <a:xfrm>
            <a:off x="812800" y="5461000"/>
            <a:ext cx="6096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320800" y="2857500"/>
            <a:ext cx="1397000" cy="26035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320800" y="2501900"/>
            <a:ext cx="1397000" cy="342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20800" y="2273300"/>
            <a:ext cx="1397000" cy="2159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844800" y="40005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2844800" y="42291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₹1.19 Cr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844800" y="256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₹15.6 L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320800" y="19939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individuals · ₹10 L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66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₹1.45 Cr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066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241800" y="4540250"/>
            <a:ext cx="1397000" cy="920750"/>
          </a:xfrm>
          <a:prstGeom prst="rect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765800" y="488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₹42 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241800" y="3473450"/>
            <a:ext cx="1397000" cy="10541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65800" y="389255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₹48 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41800" y="2806700"/>
            <a:ext cx="1397000" cy="654050"/>
          </a:xfrm>
          <a:prstGeom prst="rect">
            <a:avLst/>
          </a:prstGeom>
          <a:solidFill>
            <a:srgbClr val="E8807C"/>
          </a:solidFill>
          <a:ln w="12700">
            <a:solidFill>
              <a:srgbClr val="E8807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65800" y="30226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₹30 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241800" y="2578100"/>
            <a:ext cx="1397000" cy="215900"/>
          </a:xfrm>
          <a:prstGeom prst="rect">
            <a:avLst/>
          </a:prstGeom>
          <a:solidFill>
            <a:srgbClr val="F2ADAA"/>
          </a:solidFill>
          <a:ln w="12700">
            <a:solidFill>
              <a:srgbClr val="F2ADA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765800" y="25781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₹10 L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241800" y="2349500"/>
            <a:ext cx="1397000" cy="215900"/>
          </a:xfrm>
          <a:prstGeom prst="rect">
            <a:avLst/>
          </a:prstGeom>
          <a:solidFill>
            <a:srgbClr val="F8D7D5"/>
          </a:solidFill>
          <a:ln w="12700">
            <a:solidFill>
              <a:srgbClr val="F8D7D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765800" y="234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₹10 L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987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₹1.40 Cr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3987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YEAR 1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13600" y="24765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213600" y="2603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31" name="Text 26"/>
          <p:cNvSpPr txBox="1"/>
          <p:nvPr/>
        </p:nvSpPr>
        <p:spPr>
          <a:xfrm>
            <a:off x="8610600" y="2641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student: ₹199 price − ₹40 cloud &amp; data = ₹159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7213600" y="34290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213600" y="35560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: 1</a:t>
            </a:r>
            <a:endParaRPr lang="en-US" sz="3800" dirty="0"/>
          </a:p>
        </p:txBody>
      </p:sp>
      <p:sp>
        <p:nvSpPr>
          <p:cNvPr id="34" name="Text 29"/>
          <p:cNvSpPr txBox="1"/>
          <p:nvPr/>
        </p:nvSpPr>
        <p:spPr>
          <a:xfrm>
            <a:off x="8610600" y="35941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to CAC per college: ₹3.2 L over a 2-year contract vs ₹0.8 L to sign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7213600" y="43815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213600" y="4508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800" dirty="0"/>
          </a:p>
        </p:txBody>
      </p:sp>
      <p:sp>
        <p:nvSpPr>
          <p:cNvPr id="37" name="Text 32"/>
          <p:cNvSpPr txBox="1"/>
          <p:nvPr/>
        </p:nvSpPr>
        <p:spPr>
          <a:xfrm>
            <a:off x="8610600" y="4546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in year 2: same colleges renew, ₹48 L of sales cost disappears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7213600" y="53340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campus at a time, a thousand students at a time.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458200" y="1397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not results. Revenue at today's prices and mix.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 flipV="1">
            <a:off x="1447800" y="5705504"/>
            <a:ext cx="365639" cy="9496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 flipV="1">
            <a:off x="1813439" y="5679252"/>
            <a:ext cx="310518" cy="26253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 flipV="1">
            <a:off x="2123957" y="5639594"/>
            <a:ext cx="266421" cy="39658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 flipV="1">
            <a:off x="2390378" y="5589881"/>
            <a:ext cx="233348" cy="49712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 flipV="1">
            <a:off x="2623726" y="5533466"/>
            <a:ext cx="211299" cy="56415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flipV="1">
            <a:off x="2835025" y="5473700"/>
            <a:ext cx="200275" cy="59766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 flipV="1">
            <a:off x="3035300" y="5413934"/>
            <a:ext cx="200275" cy="59766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 flipV="1">
            <a:off x="3235575" y="5357519"/>
            <a:ext cx="211299" cy="56415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 flipV="1">
            <a:off x="3446874" y="5307806"/>
            <a:ext cx="233348" cy="49712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V="1">
            <a:off x="3680222" y="5268148"/>
            <a:ext cx="266421" cy="39658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 flipV="1">
            <a:off x="3946643" y="5241896"/>
            <a:ext cx="310518" cy="26253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 flipV="1">
            <a:off x="4257161" y="5232400"/>
            <a:ext cx="365639" cy="9496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flipV="1">
            <a:off x="4622800" y="5218157"/>
            <a:ext cx="365639" cy="14243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flipV="1">
            <a:off x="4988439" y="5178778"/>
            <a:ext cx="310518" cy="39379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 flipV="1">
            <a:off x="5298957" y="5119291"/>
            <a:ext cx="266421" cy="59487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 flipV="1">
            <a:off x="5565378" y="5044722"/>
            <a:ext cx="233348" cy="74568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 flipV="1">
            <a:off x="5798726" y="4960100"/>
            <a:ext cx="211299" cy="84623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 flipV="1">
            <a:off x="6010025" y="4870450"/>
            <a:ext cx="200275" cy="8965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 flipV="1">
            <a:off x="6210300" y="4780800"/>
            <a:ext cx="200275" cy="89650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 flipV="1">
            <a:off x="6410575" y="4696178"/>
            <a:ext cx="211299" cy="84623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 flipV="1">
            <a:off x="6621874" y="4621609"/>
            <a:ext cx="233348" cy="74568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 flipV="1">
            <a:off x="6855222" y="4562122"/>
            <a:ext cx="266421" cy="59487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 flipV="1">
            <a:off x="7121643" y="4522743"/>
            <a:ext cx="310518" cy="39379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 flipV="1">
            <a:off x="7432161" y="4508500"/>
            <a:ext cx="365639" cy="14243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 flipV="1">
            <a:off x="7797800" y="4484761"/>
            <a:ext cx="365639" cy="23739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 flipV="1">
            <a:off x="8163439" y="4419130"/>
            <a:ext cx="310518" cy="65631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 flipV="1">
            <a:off x="8473957" y="4319984"/>
            <a:ext cx="266421" cy="99145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 flipV="1">
            <a:off x="8740378" y="4195704"/>
            <a:ext cx="233348" cy="124281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 flipV="1">
            <a:off x="8973726" y="4054666"/>
            <a:ext cx="211299" cy="141038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 flipV="1">
            <a:off x="9185025" y="3905250"/>
            <a:ext cx="200275" cy="149416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 flipV="1">
            <a:off x="9385300" y="3755834"/>
            <a:ext cx="200275" cy="149416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 flipV="1">
            <a:off x="9585575" y="3614796"/>
            <a:ext cx="211299" cy="141038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 flipV="1">
            <a:off x="9796874" y="3490516"/>
            <a:ext cx="233348" cy="124281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 flipV="1">
            <a:off x="10030222" y="3391370"/>
            <a:ext cx="266421" cy="99145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 flipV="1">
            <a:off x="10296643" y="3325739"/>
            <a:ext cx="310518" cy="65631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 flipV="1">
            <a:off x="10607161" y="3302000"/>
            <a:ext cx="365639" cy="23739"/>
          </a:xfrm>
          <a:prstGeom prst="line">
            <a:avLst/>
          </a:prstGeom>
          <a:noFill/>
          <a:ln w="50800">
            <a:solidFill>
              <a:srgbClr val="0F7B4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193800" y="5715000"/>
            <a:ext cx="10033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358900" y="5626100"/>
            <a:ext cx="177800" cy="177800"/>
          </a:xfrm>
          <a:prstGeom prst="ellipse">
            <a:avLst/>
          </a:prstGeom>
          <a:solidFill>
            <a:srgbClr val="FFF7D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533900" y="51435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7708900" y="4419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871200" y="3200400"/>
            <a:ext cx="203200" cy="2032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12800" y="49530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800" dirty="0"/>
          </a:p>
        </p:txBody>
      </p:sp>
      <p:sp>
        <p:nvSpPr>
          <p:cNvPr id="50" name="Text 45"/>
          <p:cNvSpPr txBox="1"/>
          <p:nvPr/>
        </p:nvSpPr>
        <p:spPr>
          <a:xfrm>
            <a:off x="812800" y="53467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IEM pilot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3797300" y="4318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2800" dirty="0"/>
          </a:p>
        </p:txBody>
      </p:sp>
      <p:sp>
        <p:nvSpPr>
          <p:cNvPr id="52" name="Text 47"/>
          <p:cNvSpPr txBox="1"/>
          <p:nvPr/>
        </p:nvSpPr>
        <p:spPr>
          <a:xfrm>
            <a:off x="6908800" y="3594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2,50,000</a:t>
            </a:r>
            <a:endParaRPr lang="en-US" sz="2800" dirty="0"/>
          </a:p>
        </p:txBody>
      </p:sp>
      <p:sp>
        <p:nvSpPr>
          <p:cNvPr id="53" name="Text 48"/>
          <p:cNvSpPr txBox="1"/>
          <p:nvPr/>
        </p:nvSpPr>
        <p:spPr>
          <a:xfrm>
            <a:off x="9258300" y="2413000"/>
            <a:ext cx="2095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5,00,000</a:t>
            </a:r>
            <a:endParaRPr lang="en-US" sz="3200" dirty="0"/>
          </a:p>
        </p:txBody>
      </p:sp>
      <p:sp>
        <p:nvSpPr>
          <p:cNvPr id="54" name="Text 49"/>
          <p:cNvSpPr txBox="1"/>
          <p:nvPr/>
        </p:nvSpPr>
        <p:spPr>
          <a:xfrm>
            <a:off x="81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55" name="Text 50"/>
          <p:cNvSpPr txBox="1"/>
          <p:nvPr/>
        </p:nvSpPr>
        <p:spPr>
          <a:xfrm>
            <a:off x="398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56" name="Text 51"/>
          <p:cNvSpPr txBox="1"/>
          <p:nvPr/>
        </p:nvSpPr>
        <p:spPr>
          <a:xfrm>
            <a:off x="716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</p:txBody>
      </p:sp>
      <p:sp>
        <p:nvSpPr>
          <p:cNvPr id="57" name="Text 52"/>
          <p:cNvSpPr txBox="1"/>
          <p:nvPr/>
        </p:nvSpPr>
        <p:spPr>
          <a:xfrm>
            <a:off x="1033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58" name="Text 53"/>
          <p:cNvSpPr txBox="1"/>
          <p:nvPr/>
        </p:nvSpPr>
        <p:spPr>
          <a:xfrm>
            <a:off x="3797300" y="47117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colleges · ₹1.45 Cr</a:t>
            </a:r>
            <a:endParaRPr lang="en-US" sz="1200" dirty="0"/>
          </a:p>
        </p:txBody>
      </p:sp>
      <p:sp>
        <p:nvSpPr>
          <p:cNvPr id="59" name="Text 54"/>
          <p:cNvSpPr txBox="1"/>
          <p:nvPr/>
        </p:nvSpPr>
        <p:spPr>
          <a:xfrm>
            <a:off x="6908800" y="3987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colleges · ₹3.6 Cr</a:t>
            </a:r>
            <a:endParaRPr lang="en-US" sz="1200" dirty="0"/>
          </a:p>
        </p:txBody>
      </p:sp>
      <p:sp>
        <p:nvSpPr>
          <p:cNvPr id="60" name="Text 55"/>
          <p:cNvSpPr txBox="1"/>
          <p:nvPr/>
        </p:nvSpPr>
        <p:spPr>
          <a:xfrm>
            <a:off x="9258300" y="2870200"/>
            <a:ext cx="2095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colleges · ₹7.3 Cr</a:t>
            </a:r>
            <a:endParaRPr lang="en-US" sz="1200" dirty="0"/>
          </a:p>
        </p:txBody>
      </p:sp>
      <p:sp>
        <p:nvSpPr>
          <p:cNvPr id="61" name="Text 56"/>
          <p:cNvSpPr txBox="1"/>
          <p:nvPr/>
        </p:nvSpPr>
        <p:spPr>
          <a:xfrm rot="-120000">
            <a:off x="8178800" y="5080000"/>
            <a:ext cx="2921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= 4.5% of SAM, 0.6% of colleges</a:t>
            </a:r>
            <a:endParaRPr lang="en-US" sz="1200" dirty="0"/>
          </a:p>
        </p:txBody>
      </p:sp>
      <p:sp>
        <p:nvSpPr>
          <p:cNvPr id="62" name="Text 57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market, or built for a class. Nobody does both.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33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broker sells paper trading. Zerodha bundles Sensibull; Groww and Angel One have none.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969000" y="2413000"/>
            <a:ext cx="4749800" cy="1778000"/>
          </a:xfrm>
          <a:prstGeom prst="roundRect">
            <a:avLst>
              <a:gd name="adj" fmla="val 4114"/>
            </a:avLst>
          </a:prstGeom>
          <a:solidFill>
            <a:srgbClr val="D6EFDF"/>
          </a:solidFill>
          <a:ln w="12700">
            <a:solidFill>
              <a:srgbClr val="D6EFD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828800" y="2413000"/>
            <a:ext cx="0" cy="3556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828800" y="5969000"/>
            <a:ext cx="889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69000" y="2413000"/>
            <a:ext cx="0" cy="355600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1828800" y="4191000"/>
            <a:ext cx="889000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3" name="Text 8"/>
          <p:cNvSpPr txBox="1"/>
          <p:nvPr/>
        </p:nvSpPr>
        <p:spPr>
          <a:xfrm>
            <a:off x="812800" y="2413000"/>
            <a:ext cx="95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Faculty-hosted rooms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12800" y="558800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learner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8923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only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88138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trading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30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035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Varsity · free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349500" y="4711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654300" y="4686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 · ₹149/mo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365500" y="3251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670300" y="3225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Investopedia Simulator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stocks only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53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8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Moneybhai · free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91500" y="4838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96300" y="4813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Sensibull · ₹480/mo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604000" y="5473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08800" y="5448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· ₹995/mo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398000" y="2933700"/>
            <a:ext cx="355600" cy="3556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9855200" y="2857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2300" dirty="0"/>
          </a:p>
        </p:txBody>
      </p:sp>
      <p:sp>
        <p:nvSpPr>
          <p:cNvPr id="31" name="Text 26"/>
          <p:cNvSpPr txBox="1"/>
          <p:nvPr/>
        </p:nvSpPr>
        <p:spPr>
          <a:xfrm>
            <a:off x="9855200" y="32385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/ student / yr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146800" y="36830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+ HOSTED ROOMS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simulator to a coach.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812800" y="20955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12800" y="2095500"/>
            <a:ext cx="33020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128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10414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SHIPPED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competitions</a:t>
            </a:r>
            <a:endParaRPr lang="en-US" sz="2300" dirty="0"/>
          </a:p>
        </p:txBody>
      </p:sp>
      <p:sp>
        <p:nvSpPr>
          <p:cNvPr id="12" name="Text 7"/>
          <p:cNvSpPr txBox="1"/>
          <p:nvPr/>
        </p:nvSpPr>
        <p:spPr>
          <a:xfrm>
            <a:off x="10414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NSE/BSE data, full order types, room leaderboard, faculty admin view. Running at IEM.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085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7371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12 MONTHS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trade coach</a:t>
            </a:r>
            <a:endParaRPr lang="en-US" sz="2300" dirty="0"/>
          </a:p>
        </p:txBody>
      </p:sp>
      <p:sp>
        <p:nvSpPr>
          <p:cNvPr id="16" name="Text 11"/>
          <p:cNvSpPr txBox="1"/>
          <p:nvPr/>
        </p:nvSpPr>
        <p:spPr>
          <a:xfrm>
            <a:off x="47371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trade, flags the mistake, explains why in plain language. Compares you to the room. Paid tier.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042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4328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24 MONTHS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analytics</a:t>
            </a:r>
            <a:endParaRPr lang="en-US" sz="230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dashboards for faculty, inter-college leagues, placement-ready trading records.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12800" y="1587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learns to trade at full price.</a:t>
            </a:r>
            <a:endParaRPr lang="en-US" sz="5000" dirty="0"/>
          </a:p>
        </p:txBody>
      </p:sp>
      <p:sp>
        <p:nvSpPr>
          <p:cNvPr id="21" name="Text 16"/>
          <p:cNvSpPr txBox="1"/>
          <p:nvPr/>
        </p:nvSpPr>
        <p:spPr>
          <a:xfrm>
            <a:off x="812800" y="2349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students learn on TradeSim first.</a:t>
            </a:r>
            <a:endParaRPr lang="en-US" sz="5000" dirty="0"/>
          </a:p>
        </p:txBody>
      </p:sp>
      <p:sp>
        <p:nvSpPr>
          <p:cNvPr id="22" name="Shape 17"/>
          <p:cNvSpPr/>
          <p:nvPr/>
        </p:nvSpPr>
        <p:spPr>
          <a:xfrm>
            <a:off x="812800" y="3302000"/>
            <a:ext cx="2032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12800" y="361950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students at IEM already do. Bring the next room to your campus — we set it up, your faculty runs it.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12800" y="4699000"/>
            <a:ext cx="3048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127500" y="47752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TradeSim — IIM Calcutta Pitch</dc:title>
  <dc:subject>PptxGenJS Presentation</dc:subject>
  <dc:creator>PptxGenJS</dc:creator>
  <cp:lastModifiedBy>PptxGenJS</cp:lastModifiedBy>
  <cp:revision>1</cp:revision>
  <dcterms:created xsi:type="dcterms:W3CDTF">2026-09-22T08:59:10Z</dcterms:created>
  <dcterms:modified xsi:type="dcterms:W3CDTF">2026-09-22T08:59:10Z</dcterms:modified>
</cp:coreProperties>
</file>