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'Profitability of individual traders in the equity derivatives segment, FY25–FY26',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₹599/year. Sensibull Lite ₹480/month, Pro ₹800–1,300/month — the only Indian paid paper-trading product. TradingView Essential ₹995/month. StockSim Plus ₹1,199/month. Campus SaaS benchmark: Drishti EdOS publishes ₹99 / ₹179 / ₹279 per student per year with ₹35k–95k minimums. Indian colleges' edtech budgets run ₹5–50 lakh a year. No major broker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$0.30; ShareChat earns ₹36/user/yr all-in); 1,000 × ₹999 = ₹10 L. Total ₹1.45 Cr. Cost: 3 engineers ₹3.5 L/month = ₹42 L; B2B sales 60 colleges × ₹80,000 CAC = ₹48 L (60–120 day cycle); cloud ₹2.5 L/month = ₹30 L;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'why won't Zerodha just build this':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pic>
        <p:nvPicPr>
          <p:cNvPr id="5" name="Image 2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54000"/>
            <a:ext cx="655625" cy="457200"/>
          </a:xfrm>
          <a:prstGeom prst="rect">
            <a:avLst/>
          </a:prstGeom>
        </p:spPr>
      </p:pic>
      <p:pic>
        <p:nvPicPr>
          <p:cNvPr id="6" name="Image 3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520" y="254000"/>
            <a:ext cx="640080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2800" y="158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62000" y="18415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23" name="Text 16"/>
          <p:cNvSpPr txBox="1"/>
          <p:nvPr/>
        </p:nvSpPr>
        <p:spPr>
          <a:xfrm>
            <a:off x="812800" y="355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the real market.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 rot="-120000">
            <a:off x="812800" y="4483100"/>
            <a:ext cx="3556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2800" y="5080000"/>
            <a:ext cx="1056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128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128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Saugata Ghosh · Prof. (Dr.) Subhadip Chandra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080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080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398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398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93000" y="1270000"/>
            <a:ext cx="6350000" cy="6350000"/>
          </a:xfrm>
          <a:prstGeom prst="ellipse">
            <a:avLst/>
          </a:prstGeom>
          <a:solidFill>
            <a:srgbClr val="C1272D">
              <a:alpha val="8000"/>
            </a:srgbClr>
          </a:solidFill>
          <a:ln w="12700">
            <a:solidFill>
              <a:srgbClr val="C1272D">
                <a:alpha val="0"/>
              </a:srgbClr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874000" y="762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rgbClr val="C1272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FY26</a:t>
            </a:r>
            <a:endParaRPr lang="en-US" sz="130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15875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9" name="Text 4"/>
          <p:cNvSpPr txBox="1"/>
          <p:nvPr/>
        </p:nvSpPr>
        <p:spPr>
          <a:xfrm>
            <a:off x="812800" y="3111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individual traders in India last year — most of it by people learning to trade with real money.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128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6"/>
          <p:cNvSpPr txBox="1"/>
          <p:nvPr/>
        </p:nvSpPr>
        <p:spPr>
          <a:xfrm>
            <a:off x="8128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63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56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3556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595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youngest traders lose the most.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812800" y="24765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5654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2362200" y="26289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F&amp;O traders are now under 30 — up from 31% four years ago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258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147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2362200" y="33782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under-30s lost money — worse than any other age group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39751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0640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362200" y="41275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under ₹5 lakh a year. They are learning on money they cannot afford to lose.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244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641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Indians who don't invest say the market is too complex. They don't need another video. They need a place to practise.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04000" y="952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TRADERS UNDER 30, ONE YEAR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0" y="1270000"/>
            <a:ext cx="4064000" cy="4064000"/>
          </a:xfrm>
          <a:prstGeom prst="roundRect">
            <a:avLst>
              <a:gd name="adj" fmla="val 27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C1272D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0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91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3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34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96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77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439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0400" y="1803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91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53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534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15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296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677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439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010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91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772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53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534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915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96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677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058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39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0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91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772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53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534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15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96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77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58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439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0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391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772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53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534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915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296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677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058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439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010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391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772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53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534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915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296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77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058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0439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010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391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72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153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534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915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9296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9677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10058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10439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10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91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772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153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534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915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296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9677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10058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439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10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7391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772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153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534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15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296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677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58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439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010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7391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7772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153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534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915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296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9677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058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39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7239000" y="5588000"/>
            <a:ext cx="177800" cy="177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7493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lost money</a:t>
            </a:r>
            <a:endParaRPr lang="en-US" sz="1300" dirty="0"/>
          </a:p>
        </p:txBody>
      </p:sp>
      <p:sp>
        <p:nvSpPr>
          <p:cNvPr id="122" name="Shape 117"/>
          <p:cNvSpPr/>
          <p:nvPr/>
        </p:nvSpPr>
        <p:spPr>
          <a:xfrm>
            <a:off x="9271000" y="5588000"/>
            <a:ext cx="177800" cy="1778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9525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 money</a:t>
            </a:r>
            <a:endParaRPr lang="en-US" sz="1300" dirty="0"/>
          </a:p>
        </p:txBody>
      </p:sp>
      <p:sp>
        <p:nvSpPr>
          <p:cNvPr id="124" name="Text 11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06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the real market. Lose nothing.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812800" y="25400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6416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6670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&amp; BSE prices — the same candles a broker terminal shows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893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909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4163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limit and stop orders; intraday and delivery; long and short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386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1402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1656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host a room; every student starts with the same virtual corpus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879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895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9149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 ranks the room by P&amp;L — zero real money at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800" y="55372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495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21" name="Image 2" descr="/Users/deepansadhukhan/Documents/GitHub/Tradesim_IIM_CALCUTTA/shot-trading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270000"/>
            <a:ext cx="5715000" cy="324485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pic>
        <p:nvPicPr>
          <p:cNvPr id="22" name="Image 3" descr="/Users/deepansadhukhan/Documents/GitHub/Tradesim_IIM_CALCUTTA/shot-room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384800" y="3987800"/>
            <a:ext cx="3429000" cy="1949450"/>
          </a:xfrm>
          <a:prstGeom prst="rect">
            <a:avLst/>
          </a:prstGeom>
          <a:effectLst>
            <a:outerShdw sx="100000" sy="100000" kx="0" ky="0" algn="bl" rotWithShape="0" blurRad="101600" dist="127000" dir="2700000">
              <a:srgbClr val="E8A800">
                <a:alpha val="10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 rot="180000">
            <a:off x="9296400" y="952500"/>
            <a:ext cx="190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042400" y="5461000"/>
            <a:ext cx="215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room. One corpus. One leaderboard.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97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trading competition, hosted by a teacher, in under five minutes.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398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35814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10" name="Text 5"/>
          <p:cNvSpPr txBox="1"/>
          <p:nvPr/>
        </p:nvSpPr>
        <p:spPr>
          <a:xfrm>
            <a:off x="62230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6"/>
          <p:cNvSpPr txBox="1"/>
          <p:nvPr/>
        </p:nvSpPr>
        <p:spPr>
          <a:xfrm>
            <a:off x="88646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12" name="Shape 7"/>
          <p:cNvSpPr/>
          <p:nvPr/>
        </p:nvSpPr>
        <p:spPr>
          <a:xfrm>
            <a:off x="812800" y="38100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37600" y="3810000"/>
            <a:ext cx="26416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8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128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a room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duration, the virtual corpus and the rules. Shares a room code.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4544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4544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4544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join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4544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with the same virtual capital. No demat, no KYC, no money.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960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0960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0960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trade the live market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960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real order types, real volatility. No real losses.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737600" y="3594100"/>
            <a:ext cx="508000" cy="5080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7376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737600" y="434340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decides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737600" y="4914900"/>
            <a:ext cx="264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live on realised + unrealised P&amp;L. Faculty sees every trade.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today. Investors next year.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 rot="120000">
            <a:off x="8191500" y="1333500"/>
            <a:ext cx="317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new NSE investors are under 30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939800" y="1968500"/>
            <a:ext cx="3937000" cy="3937000"/>
          </a:xfrm>
          <a:prstGeom prst="ellipse">
            <a:avLst/>
          </a:prstGeom>
          <a:solidFill>
            <a:srgbClr val="F9EBB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701800" y="3492500"/>
            <a:ext cx="2413000" cy="2413000"/>
          </a:xfrm>
          <a:prstGeom prst="ellipse">
            <a:avLst/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13000" y="4914900"/>
            <a:ext cx="990600" cy="99060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400300" y="2286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400300" y="37465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400300" y="53086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76800" y="3175000"/>
            <a:ext cx="1143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4114800" y="4445000"/>
            <a:ext cx="1905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3403600" y="5410200"/>
            <a:ext cx="26162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210300" y="2603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crore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6210300" y="3276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Indian higher education — tomorrow's first-time investors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0300" y="3937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crore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6210300" y="4610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commerce, management and engineering courses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0300" y="5016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6210300" y="5575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target: ~60 partner colleges, starting inside the IEM-UEM network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762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587500"/>
            <a:ext cx="482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MBA students.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live room.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12800" y="2794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at risk.</a:t>
            </a:r>
            <a:endParaRPr lang="en-US" sz="4000" dirty="0"/>
          </a:p>
        </p:txBody>
      </p:sp>
      <p:sp>
        <p:nvSpPr>
          <p:cNvPr id="9" name="Shape 4"/>
          <p:cNvSpPr/>
          <p:nvPr/>
        </p:nvSpPr>
        <p:spPr>
          <a:xfrm>
            <a:off x="812800" y="3556000"/>
            <a:ext cx="1651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2800" y="3810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IEM's MBA batch on live NSE/BSE data. The product on this screen is the product students are already using.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500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12" name="Image 2" descr="/Users/deepansadhukhan/Documents/GitHub/Tradesim_IIM_CALCUTTA/shot-portfolio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5207000" cy="295910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 rot="180000">
            <a:off x="9245600" y="1143000"/>
            <a:ext cx="20955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943600" y="4749800"/>
            <a:ext cx="520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never pay. Colleges do.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7823200" y="1270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Seekho (₹149/mo), Sensibull Lite (₹480/mo) and campus software at ₹99–279 per student per year.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812800" y="4191000"/>
            <a:ext cx="3175000" cy="1651000"/>
          </a:xfrm>
          <a:prstGeom prst="roundRect">
            <a:avLst>
              <a:gd name="adj" fmla="val 5538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1041400" y="4381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41400" y="4635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5245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simulator, live data. Ads shown. No AI coach.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08500" y="3302000"/>
            <a:ext cx="3175000" cy="2540000"/>
          </a:xfrm>
          <a:prstGeom prst="roundRect">
            <a:avLst>
              <a:gd name="adj" fmla="val 36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737100" y="3492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737100" y="3746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₹149/mo</a:t>
            </a:r>
            <a:endParaRPr lang="en-US" sz="38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4356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₹999 a year. Ad-free. AI trade coach when it ships. Priced below one Sensibull month.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04200" y="2286000"/>
            <a:ext cx="3175000" cy="3556000"/>
          </a:xfrm>
          <a:prstGeom prst="roundRect">
            <a:avLst>
              <a:gd name="adj" fmla="val 2880"/>
            </a:avLst>
          </a:prstGeom>
          <a:solidFill>
            <a:srgbClr val="D6EFDF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32800" y="2476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432800" y="2730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3302000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year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minimum per college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937000"/>
            <a:ext cx="273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licenses its student strength. Students pay nothing. Faculty get admin rooms, cohort reports and every trade on record.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32800" y="5270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= ₹1.99 L/yr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in year one. Margin on every renewal.</a:t>
            </a:r>
            <a:endParaRPr lang="en-US" sz="3200" dirty="0"/>
          </a:p>
        </p:txBody>
      </p:sp>
      <p:sp>
        <p:nvSpPr>
          <p:cNvPr id="7" name="Shape 2"/>
          <p:cNvSpPr/>
          <p:nvPr/>
        </p:nvSpPr>
        <p:spPr>
          <a:xfrm>
            <a:off x="812800" y="5461000"/>
            <a:ext cx="6096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20800" y="2857500"/>
            <a:ext cx="1397000" cy="26035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20800" y="2501900"/>
            <a:ext cx="1397000" cy="342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20800" y="2273300"/>
            <a:ext cx="1397000" cy="2159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844800" y="4000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2844800" y="42291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₹1.19 Cr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844800" y="256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₹15.6 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20800" y="19939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individuals · ₹10 L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66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₹1.45 Cr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066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41800" y="4540250"/>
            <a:ext cx="1397000" cy="920750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5800" y="488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₹42 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241800" y="3473450"/>
            <a:ext cx="1397000" cy="10541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65800" y="389255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₹48 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41800" y="2806700"/>
            <a:ext cx="1397000" cy="654050"/>
          </a:xfrm>
          <a:prstGeom prst="rect">
            <a:avLst/>
          </a:prstGeom>
          <a:solidFill>
            <a:srgbClr val="E8807C"/>
          </a:solidFill>
          <a:ln w="12700">
            <a:solidFill>
              <a:srgbClr val="E8807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5800" y="30226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₹30 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41800" y="2578100"/>
            <a:ext cx="1397000" cy="215900"/>
          </a:xfrm>
          <a:prstGeom prst="rect">
            <a:avLst/>
          </a:prstGeom>
          <a:solidFill>
            <a:srgbClr val="F2ADAA"/>
          </a:solidFill>
          <a:ln w="12700">
            <a:solidFill>
              <a:srgbClr val="F2AD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765800" y="25781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₹10 L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241800" y="2349500"/>
            <a:ext cx="1397000" cy="215900"/>
          </a:xfrm>
          <a:prstGeom prst="rect">
            <a:avLst/>
          </a:prstGeom>
          <a:solidFill>
            <a:srgbClr val="F8D7D5"/>
          </a:solidFill>
          <a:ln w="12700">
            <a:solidFill>
              <a:srgbClr val="F8D7D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765800" y="234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₹10 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987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₹1.40 Cr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3987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YEAR 1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13600" y="24765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13600" y="2603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31" name="Text 26"/>
          <p:cNvSpPr txBox="1"/>
          <p:nvPr/>
        </p:nvSpPr>
        <p:spPr>
          <a:xfrm>
            <a:off x="8610600" y="2641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student: ₹199 price − ₹40 cloud &amp; data = ₹159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7213600" y="34290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213600" y="35560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: 1</a:t>
            </a:r>
            <a:endParaRPr lang="en-US" sz="3800" dirty="0"/>
          </a:p>
        </p:txBody>
      </p:sp>
      <p:sp>
        <p:nvSpPr>
          <p:cNvPr id="34" name="Text 29"/>
          <p:cNvSpPr txBox="1"/>
          <p:nvPr/>
        </p:nvSpPr>
        <p:spPr>
          <a:xfrm>
            <a:off x="8610600" y="35941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CAC per college: ₹3.2 L over a 2-year contract vs ₹0.8 L to sign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13600" y="43815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213600" y="4508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800" dirty="0"/>
          </a:p>
        </p:txBody>
      </p:sp>
      <p:sp>
        <p:nvSpPr>
          <p:cNvPr id="37" name="Text 32"/>
          <p:cNvSpPr txBox="1"/>
          <p:nvPr/>
        </p:nvSpPr>
        <p:spPr>
          <a:xfrm>
            <a:off x="8610600" y="4546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in year 2: same colleges renew, ₹48 L of sales cost disappears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213600" y="53340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campus at a time, a thousand students at a time.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458200" y="139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not results. Revenue at today's prices and mix.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1447800" y="3302000"/>
            <a:ext cx="9525000" cy="2413000"/>
          </a:xfrm>
          <a:custGeom>
            <a:avLst/>
            <a:gdLst/>
            <a:ahLst/>
            <a:cxnLst/>
            <a:rect l="l" t="t" r="r" b="b"/>
            <a:pathLst>
              <a:path w="9525000" h="2413000">
                <a:moveTo>
                  <a:pt x="0" y="2413000"/>
                </a:moveTo>
                <a:lnTo>
                  <a:pt x="190399" y="2410556"/>
                </a:lnTo>
                <a:lnTo>
                  <a:pt x="365639" y="2403504"/>
                </a:lnTo>
                <a:lnTo>
                  <a:pt x="527100" y="2392263"/>
                </a:lnTo>
                <a:lnTo>
                  <a:pt x="676157" y="2377252"/>
                </a:lnTo>
                <a:lnTo>
                  <a:pt x="814191" y="2358889"/>
                </a:lnTo>
                <a:lnTo>
                  <a:pt x="942578" y="2337594"/>
                </a:lnTo>
                <a:lnTo>
                  <a:pt x="1062697" y="2313785"/>
                </a:lnTo>
                <a:lnTo>
                  <a:pt x="1175926" y="2287881"/>
                </a:lnTo>
                <a:lnTo>
                  <a:pt x="1283643" y="2260302"/>
                </a:lnTo>
                <a:lnTo>
                  <a:pt x="1387225" y="2231466"/>
                </a:lnTo>
                <a:lnTo>
                  <a:pt x="1488052" y="2201793"/>
                </a:lnTo>
                <a:lnTo>
                  <a:pt x="1587500" y="2171700"/>
                </a:lnTo>
                <a:lnTo>
                  <a:pt x="1686948" y="2141607"/>
                </a:lnTo>
                <a:lnTo>
                  <a:pt x="1787775" y="2111934"/>
                </a:lnTo>
                <a:lnTo>
                  <a:pt x="1891357" y="2083098"/>
                </a:lnTo>
                <a:lnTo>
                  <a:pt x="1999074" y="2055519"/>
                </a:lnTo>
                <a:lnTo>
                  <a:pt x="2112303" y="2029615"/>
                </a:lnTo>
                <a:lnTo>
                  <a:pt x="2232422" y="2005806"/>
                </a:lnTo>
                <a:lnTo>
                  <a:pt x="2360809" y="1984511"/>
                </a:lnTo>
                <a:lnTo>
                  <a:pt x="2498843" y="1966148"/>
                </a:lnTo>
                <a:lnTo>
                  <a:pt x="2647900" y="1951137"/>
                </a:lnTo>
                <a:lnTo>
                  <a:pt x="2809361" y="1939896"/>
                </a:lnTo>
                <a:lnTo>
                  <a:pt x="2984601" y="1932844"/>
                </a:lnTo>
                <a:lnTo>
                  <a:pt x="3175000" y="1930400"/>
                </a:lnTo>
                <a:lnTo>
                  <a:pt x="3175000" y="1930400"/>
                </a:lnTo>
                <a:lnTo>
                  <a:pt x="3365399" y="1926734"/>
                </a:lnTo>
                <a:lnTo>
                  <a:pt x="3540639" y="1916157"/>
                </a:lnTo>
                <a:lnTo>
                  <a:pt x="3702100" y="1899295"/>
                </a:lnTo>
                <a:lnTo>
                  <a:pt x="3851157" y="1876778"/>
                </a:lnTo>
                <a:lnTo>
                  <a:pt x="3989191" y="1849234"/>
                </a:lnTo>
                <a:lnTo>
                  <a:pt x="4117578" y="1817291"/>
                </a:lnTo>
                <a:lnTo>
                  <a:pt x="4237697" y="1781577"/>
                </a:lnTo>
                <a:lnTo>
                  <a:pt x="4350926" y="1742722"/>
                </a:lnTo>
                <a:lnTo>
                  <a:pt x="4458643" y="1701354"/>
                </a:lnTo>
                <a:lnTo>
                  <a:pt x="4562225" y="1658100"/>
                </a:lnTo>
                <a:lnTo>
                  <a:pt x="4663052" y="1613589"/>
                </a:lnTo>
                <a:lnTo>
                  <a:pt x="4762500" y="1568450"/>
                </a:lnTo>
                <a:lnTo>
                  <a:pt x="4861948" y="1523311"/>
                </a:lnTo>
                <a:lnTo>
                  <a:pt x="4962775" y="1478800"/>
                </a:lnTo>
                <a:lnTo>
                  <a:pt x="5066357" y="1435546"/>
                </a:lnTo>
                <a:lnTo>
                  <a:pt x="5174074" y="1394178"/>
                </a:lnTo>
                <a:lnTo>
                  <a:pt x="5287303" y="1355323"/>
                </a:lnTo>
                <a:lnTo>
                  <a:pt x="5407422" y="1319609"/>
                </a:lnTo>
                <a:lnTo>
                  <a:pt x="5535809" y="1287666"/>
                </a:lnTo>
                <a:lnTo>
                  <a:pt x="5673843" y="1260122"/>
                </a:lnTo>
                <a:lnTo>
                  <a:pt x="5822900" y="1237605"/>
                </a:lnTo>
                <a:lnTo>
                  <a:pt x="5984361" y="1220743"/>
                </a:lnTo>
                <a:lnTo>
                  <a:pt x="6159601" y="1210166"/>
                </a:lnTo>
                <a:lnTo>
                  <a:pt x="6350000" y="1206500"/>
                </a:lnTo>
                <a:lnTo>
                  <a:pt x="6350000" y="1206500"/>
                </a:lnTo>
                <a:lnTo>
                  <a:pt x="6540399" y="1200391"/>
                </a:lnTo>
                <a:lnTo>
                  <a:pt x="6715639" y="1182761"/>
                </a:lnTo>
                <a:lnTo>
                  <a:pt x="6877100" y="1154658"/>
                </a:lnTo>
                <a:lnTo>
                  <a:pt x="7026157" y="1117130"/>
                </a:lnTo>
                <a:lnTo>
                  <a:pt x="7164191" y="1071223"/>
                </a:lnTo>
                <a:lnTo>
                  <a:pt x="7292578" y="1017984"/>
                </a:lnTo>
                <a:lnTo>
                  <a:pt x="7412697" y="958462"/>
                </a:lnTo>
                <a:lnTo>
                  <a:pt x="7525926" y="893704"/>
                </a:lnTo>
                <a:lnTo>
                  <a:pt x="7633643" y="824756"/>
                </a:lnTo>
                <a:lnTo>
                  <a:pt x="7737225" y="752666"/>
                </a:lnTo>
                <a:lnTo>
                  <a:pt x="7838052" y="678482"/>
                </a:lnTo>
                <a:lnTo>
                  <a:pt x="7937500" y="603250"/>
                </a:lnTo>
                <a:lnTo>
                  <a:pt x="8036948" y="528018"/>
                </a:lnTo>
                <a:lnTo>
                  <a:pt x="8137775" y="453834"/>
                </a:lnTo>
                <a:lnTo>
                  <a:pt x="8241357" y="381744"/>
                </a:lnTo>
                <a:lnTo>
                  <a:pt x="8349074" y="312796"/>
                </a:lnTo>
                <a:lnTo>
                  <a:pt x="8462303" y="248038"/>
                </a:lnTo>
                <a:lnTo>
                  <a:pt x="8582422" y="188516"/>
                </a:lnTo>
                <a:lnTo>
                  <a:pt x="8710809" y="135277"/>
                </a:lnTo>
                <a:lnTo>
                  <a:pt x="8848843" y="89370"/>
                </a:lnTo>
                <a:lnTo>
                  <a:pt x="8997900" y="51842"/>
                </a:lnTo>
                <a:lnTo>
                  <a:pt x="9159361" y="23739"/>
                </a:lnTo>
                <a:lnTo>
                  <a:pt x="9334601" y="6109"/>
                </a:lnTo>
                <a:lnTo>
                  <a:pt x="9525000" y="0"/>
                </a:lnTo>
              </a:path>
            </a:pathLst>
          </a:custGeom>
          <a:solidFill>
            <a:srgbClr val="FFF7DC">
              <a:alpha val="0"/>
            </a:srgbClr>
          </a:solidFill>
          <a:ln w="1016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93800" y="5715000"/>
            <a:ext cx="10033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58900" y="5626100"/>
            <a:ext cx="177800" cy="177800"/>
          </a:xfrm>
          <a:prstGeom prst="ellipse">
            <a:avLst/>
          </a:prstGeom>
          <a:solidFill>
            <a:srgbClr val="FFF7D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33900" y="51435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708900" y="4419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871200" y="3200400"/>
            <a:ext cx="203200" cy="2032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953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812800" y="5346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IEM pilot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797300" y="431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6908800" y="3594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2,50,000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9258300" y="2413000"/>
            <a:ext cx="2095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5,00,000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81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98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16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033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797300" y="47117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908800" y="3987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258300" y="2870200"/>
            <a:ext cx="2095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 rot="-120000">
            <a:off x="8178800" y="5080000"/>
            <a:ext cx="2921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market, or built for a class. Nobody does both.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33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broker sells paper trading. Zerodha bundles Sensibull; Groww and Angel One have none.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969000" y="2413000"/>
            <a:ext cx="4749800" cy="1778000"/>
          </a:xfrm>
          <a:prstGeom prst="roundRect">
            <a:avLst>
              <a:gd name="adj" fmla="val 4114"/>
            </a:avLst>
          </a:prstGeom>
          <a:solidFill>
            <a:srgbClr val="D6EFDF"/>
          </a:solidFill>
          <a:ln w="12700">
            <a:solidFill>
              <a:srgbClr val="D6EFD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0" y="2413000"/>
            <a:ext cx="0" cy="3556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828800" y="5969000"/>
            <a:ext cx="889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9000" y="2413000"/>
            <a:ext cx="0" cy="35560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1828800" y="4191000"/>
            <a:ext cx="8890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812800" y="2413000"/>
            <a:ext cx="95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Faculty-hosted rooms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12800" y="558800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learner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923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8138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trading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30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35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Varsity · free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49500" y="4711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54300" y="4686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 · ₹149/mo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65500" y="3251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70300" y="3225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 Simulator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only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53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8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Moneybhai · free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91500" y="4838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96300" y="4813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Sensibull · ₹480/mo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604000" y="5473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08800" y="5448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· ₹995/mo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398000" y="2933700"/>
            <a:ext cx="355600" cy="3556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9855200" y="2857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9855200" y="32385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/ student / yr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146800" y="3683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+ HOSTED ROOMS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simulator to a coach.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812800" y="20955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12800" y="2095500"/>
            <a:ext cx="33020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128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414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SHIPPED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competitions</a:t>
            </a:r>
            <a:endParaRPr lang="en-US" sz="2300" dirty="0"/>
          </a:p>
        </p:txBody>
      </p:sp>
      <p:sp>
        <p:nvSpPr>
          <p:cNvPr id="12" name="Text 7"/>
          <p:cNvSpPr txBox="1"/>
          <p:nvPr/>
        </p:nvSpPr>
        <p:spPr>
          <a:xfrm>
            <a:off x="10414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NSE/BSE data, full order types, room leaderboard, faculty admin view. Running at IEM.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085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7371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12 MONTHS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trade coach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47371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trade, flags the mistake, explains why in plain language. Compares you to the room. Paid tier.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042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4328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24 MONTHS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analytics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dashboards for faculty, inter-college leagues, placement-ready trading records.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2800" y="158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learns to trade at full price.</a:t>
            </a:r>
            <a:endParaRPr lang="en-US" sz="5000" dirty="0"/>
          </a:p>
        </p:txBody>
      </p:sp>
      <p:sp>
        <p:nvSpPr>
          <p:cNvPr id="21" name="Text 16"/>
          <p:cNvSpPr txBox="1"/>
          <p:nvPr/>
        </p:nvSpPr>
        <p:spPr>
          <a:xfrm>
            <a:off x="812800" y="2349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students learn on TradeSim first.</a:t>
            </a:r>
            <a:endParaRPr lang="en-US" sz="5000" dirty="0"/>
          </a:p>
        </p:txBody>
      </p:sp>
      <p:sp>
        <p:nvSpPr>
          <p:cNvPr id="22" name="Shape 17"/>
          <p:cNvSpPr/>
          <p:nvPr/>
        </p:nvSpPr>
        <p:spPr>
          <a:xfrm>
            <a:off x="812800" y="3302000"/>
            <a:ext cx="2032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2800" y="36195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 at IEM already do. Bring the next room to your campus — we set it up, your faculty runs it.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12800" y="4699000"/>
            <a:ext cx="3048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127500" y="4775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2026-09-22T09:05:25Z</dcterms:created>
  <dcterms:modified xsi:type="dcterms:W3CDTF">2026-09-22T09:05:25Z</dcterms:modified>
</cp:coreProperties>
</file>