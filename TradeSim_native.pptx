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Area mapping: Financial Education. Tech mapping: FinTech. Hook comes on the next slide — do not introduce yourselves here; the slide does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SEBI, "Profitability of individual traders in the equity derivatives segment, FY25–FY26", press release 50/2026, 20 Aug 2026. FY26: 87.7% of individual traders lost; net loss ₹91,685 crore; average loss ₹1.17 lakh; 78.6 lakh active traders. FY25 (restated): ~₹1.12 lakh crore, 91% lost. Backup: Sept 2024 study — 93% lost, ₹1.8 lakh crore over FY22–24. If a judge says losses fell in FY26: yes, by design — SEBI tightened F&amp;O rules and 20% of traders left. The ones who stayed still lost 9 times in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SEBI study on trading behaviour of individual traders in equity derivatives, FY25–FY26 (Aug 2026): under-30s are 43% of traders (31% four years earlier); 89% of them lost (vs 81% for 60+); ~three-quarters of traders earn under ₹5 lakh/yr. SEBI Investor Survey 2025 (Sept 2025, 90,000+ households): 74% of non-investors cite complexity / information gaps; only 9.5% of households invest. NCFE 2019: 27% of Indians financially literate. The waffle shows 89 of 100 — the under-30 loss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screenshots are from the live build: the stock page (TATASTEEL, TradingView chart, order panel) and the room dashboard (room code, admin/user toggle, P&amp;L cards). If asked: order book, stop-loss, intraday vs delivery all exist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experience as a brokerage terminal — minus the ability to lose a rupee. Test room shown in screenshots used a ₹25 lakh virtual corpus.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TAM: AISHE 2023-24 (Ministry of Education, released July 2026) — total enrolment 4,50,01,123; 1,289 universities, 48,246 colleges. SAM: UG Commerce 40.8 lakh + UG Management 10.8 lakh + PG Management 10.4 lakh + PG Commerce 4.5 lakh + UG Engineering 43.9 lakh = 110.4 lakh ≈ 1.1 crore (same report). SOM: 1,00,000 = 60 colleges at ~1,000 relevant students plus organic B2C sign-ups; that is 0.12% of India's 48,246 colleges and under 1% of SAM. Youth stat: NSE Market Pulse July 2026 — 59% of new registrations Apr-Jun 2026 were under 30; median investor age 33; 13.2 crore unique investors. India edtech market USD 7.5 bn, projected USD 29 bn by 2030 (IAMAI / Grant Thornton Bharat, Jan 2025) if asked for the sector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exactly what happened: 100 MBA students onboarded, one competition room hosted end-to-end, on real market data. Do not inflate. If asked for feedback scores, say they are being collected.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anchors (all fetched Sept 2026): Seekho ₹149/month, ₹599/year (App Store India). Sensibull Lite ₹480/month, Pro ₹800–1,300/month — the only Indian paid paper-trading product, and paper trading sits in its paid tier. TradingView Essential ₹995/month. StockSim Plus ₹1,199/month. Campus SaaS benchmark: Drishti EdOS publishes ₹99 / ₹179 / ₹279 per student per year with ₹35k–95k minimums; LMS guides quote ₹50–500 per user per month. Indian colleges' edtech budgets run ₹5–50 lakh a year (SalesUp, 2025). No major broker (Zerodha, Groww, Upstox, Angel One) sells paper trading — Zerodha bundles Sensibull free. So ₹199/student/yr sits inside the campus band and 2.4x below one month of Sensibull.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mix at 1,00,000: 60,000 institutional (60 colleges × ~1,000 students), 39,000 free, 1,000 paid individuals (2.5% of B2C users; RevenueCat 2026 median download-to-paid is 2.18%). Revenue: 60,000 × ₹199 = ₹1.19 Cr; 39,000 × ₹40 ad ARPU = ₹15.6 L (India AdMob eCPM ≈ $0.30, ~150 impressions per user per month; ShareChat earns ₹36/user/yr all-in); 1,000 × ₹999 = ₹10 L. Total ₹1.45 Cr. Cost: 3 engineers ₹3.5 L/month = ₹42 L (Instahyre 2026 salary bands); B2B sales 60 colleges × ₹80,000 CAC = ₹48 L (SalesUp benchmark, 60–120 day cycle); cloud ₹2.5 L/month = ₹30 L (100k-MAU backend estimates $3.5–4k/month); market-data licence ₹10 L — an assumption: NSE vendor licence plus per-end-user fees, price list not public; ops/support ₹10 L. Total ₹1.40 Cr. Founders' faculty time not costed. Judges will push on the data-licence line: say it is a budgeted assumption; every ₹5 L on that line moves year-1 result by ₹5 L, and year-2 margin absorbs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1: 60 colleges × ~1,000 relevant students plus organic sign-ups = 1,00,000; revenue ₹1.45 Cr at the slide-9 mix. Year 2: 150 colleges, 2,50,000 users, ₹3.6 Cr. Year 3: 300 colleges, 5,00,000 users, ₹7.3 Cr — 4.5% of the 1.1 crore SAM and 0.6% of India's 48,246 colleges. Curve is drawn to scale on users. Go-to-market: IEM-UEM group campuses first, then West Bengal, then AICTE-approved management institutions (~3,500 nationally, AICTE 2024-25 — count unverified against the AICTE primary, quote as approximate).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Placement is qualitative. Prices fetched Sept 2026: Sensibull Lite ₹480/mo (paper trading is in the paid tier; free for Zerodha users), TradingView Essential ₹995/mo annual, Seekho ₹149/mo, Moneybhai free (₹1 crore virtual), Zerodha Varsity free (certification ₹250 + GST), Investopedia simulator free but US-listed stocks only. Brokers: Zerodha Kite no native paper trading, Upstox demo tour only, Groww none, Dhan via Sensibull, Angel One none found. If asked "why won't Zerodha just build this": brokers earn on real trades; a classroom simulator with a faculty admin view is not their business, and none of them sells to colleges.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first column exists today. Be explicit that AI coaching and analytics are roadmap, and that the AI tier is what justifies a higher price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funding ask. The call to action is a campus partnership: a hosted competition room for their institution. End on the green line and stop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sing market 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IEM — Institute of Engineering and Managemen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6400" y="254000"/>
            <a:ext cx="874316" cy="609600"/>
          </a:xfrm>
          <a:prstGeom prst="rect">
            <a:avLst/>
          </a:prstGeom>
        </p:spPr>
      </p:pic>
      <p:pic>
        <p:nvPicPr>
          <p:cNvPr id="4" name="Image 2" descr="UEM — University of Engineering and Managemen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932964" y="254000"/>
            <a:ext cx="852636" cy="6096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12800" y="1759099"/>
            <a:ext cx="78486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IIM CALCUTTA · STARTUP PITCH · 2026</a:t>
            </a:r>
            <a:endParaRPr lang="en-US" sz="1300" dirty="0"/>
          </a:p>
        </p:txBody>
      </p:sp>
      <p:sp>
        <p:nvSpPr>
          <p:cNvPr id="6" name="Text 1"/>
          <p:cNvSpPr/>
          <p:nvPr/>
        </p:nvSpPr>
        <p:spPr>
          <a:xfrm>
            <a:off x="812800" y="2142629"/>
            <a:ext cx="7848600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450"/>
              </a:lnSpc>
              <a:buNone/>
            </a:pPr>
            <a:r>
              <a:rPr lang="en-US" sz="11000" spc="-300" kern="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TradeSim</a:t>
            </a:r>
            <a:endParaRPr lang="en-US" sz="11000" dirty="0"/>
          </a:p>
        </p:txBody>
      </p:sp>
      <p:sp>
        <p:nvSpPr>
          <p:cNvPr id="7" name="Text 2"/>
          <p:cNvSpPr/>
          <p:nvPr/>
        </p:nvSpPr>
        <p:spPr>
          <a:xfrm>
            <a:off x="812800" y="3622179"/>
            <a:ext cx="7848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Practice on the real market.</a:t>
            </a:r>
            <a:endParaRPr lang="en-US" sz="2200" dirty="0"/>
          </a:p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Lose nothing but the fear.</a:t>
            </a:r>
            <a:endParaRPr lang="en-US" sz="2200" dirty="0"/>
          </a:p>
        </p:txBody>
      </p:sp>
      <p:sp>
        <p:nvSpPr>
          <p:cNvPr id="8" name="Shape 3"/>
          <p:cNvSpPr/>
          <p:nvPr/>
        </p:nvSpPr>
        <p:spPr>
          <a:xfrm rot="21480000">
            <a:off x="819770" y="4478139"/>
            <a:ext cx="3105150" cy="38100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0" dist="53882" dir="2700000">
              <a:srgbClr val="E8A800">
                <a:alpha val="100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 rot="21480000">
            <a:off x="991638" y="4559235"/>
            <a:ext cx="284511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Piloted with 100 MBA students at IEM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812800" y="5124549"/>
            <a:ext cx="10566400" cy="0"/>
          </a:xfrm>
          <a:prstGeom prst="line">
            <a:avLst/>
          </a:prstGeom>
          <a:noFill/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12800" y="5308699"/>
            <a:ext cx="3717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FOUNDERS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12800" y="5547420"/>
            <a:ext cx="371740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Prof. Saugata Ghosh · Prof. (Dr.) Subhadip Chandra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828332" y="5308699"/>
            <a:ext cx="43478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FOUNDING TEAM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828332" y="5547420"/>
            <a:ext cx="434784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Ratul Mukherjee · Shinjini Chakraborty · Deepan Sadhukhan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9455944" y="5308699"/>
            <a:ext cx="19809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CONTACT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455944" y="5547420"/>
            <a:ext cx="198095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80170 24589 · 93322 35642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3000" y="1270000"/>
            <a:ext cx="6350000" cy="6350000"/>
          </a:xfrm>
          <a:prstGeom prst="roundRect">
            <a:avLst>
              <a:gd name="adj" fmla="val 25600"/>
            </a:avLst>
          </a:prstGeom>
          <a:solidFill>
            <a:srgbClr val="C1272D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874000" y="762000"/>
            <a:ext cx="39243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0"/>
              </a:lnSpc>
              <a:buNone/>
            </a:pPr>
            <a:r>
              <a:rPr lang="en-US" sz="13000" spc="-400" kern="0" dirty="0">
                <a:solidFill>
                  <a:srgbClr val="C1272D">
                    <a:alpha val="10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FY26</a:t>
            </a:r>
            <a:endParaRPr lang="en-US" sz="13000" dirty="0"/>
          </a:p>
        </p:txBody>
      </p:sp>
      <p:pic>
        <p:nvPicPr>
          <p:cNvPr id="4" name="Image 0" descr="IE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400" y="254000"/>
            <a:ext cx="765026" cy="533400"/>
          </a:xfrm>
          <a:prstGeom prst="rect">
            <a:avLst/>
          </a:prstGeom>
        </p:spPr>
      </p:pic>
      <p:pic>
        <p:nvPicPr>
          <p:cNvPr id="5" name="Image 1" descr="UEM">    </p:cNvPr>
          <p:cNvPicPr>
            <a:picLocks noChangeAspect="1"/>
          </p:cNvPicPr>
          <p:nvPr/>
        </p:nvPicPr>
        <p:blipFill>
          <a:blip r:embed="rId2"/>
          <a:srcRect l="0" r="0" t="-2" b="-2"/>
          <a:stretch/>
        </p:blipFill>
        <p:spPr>
          <a:xfrm>
            <a:off x="11039574" y="254000"/>
            <a:ext cx="746026" cy="533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800" y="163577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SEBI · EQUITY DERIVATIVES · ONE FINANCIAL YEAR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12800" y="2095500"/>
            <a:ext cx="10883392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500"/>
              </a:lnSpc>
              <a:buNone/>
            </a:pPr>
            <a:r>
              <a:rPr lang="en-US" sz="10000" spc="-350" kern="0" dirty="0">
                <a:solidFill>
                  <a:srgbClr val="C1272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₹91,685 crore</a:t>
            </a:r>
            <a:endParaRPr lang="en-US" sz="10000" dirty="0"/>
          </a:p>
        </p:txBody>
      </p:sp>
      <p:sp>
        <p:nvSpPr>
          <p:cNvPr id="8" name="Text 4"/>
          <p:cNvSpPr/>
          <p:nvPr/>
        </p:nvSpPr>
        <p:spPr>
          <a:xfrm>
            <a:off x="812800" y="3530600"/>
            <a:ext cx="7848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lost by individual traders in India last year — most of it by people learning to trade with real money.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2655987" y="4559300"/>
            <a:ext cx="0" cy="662930"/>
          </a:xfrm>
          <a:prstGeom prst="line">
            <a:avLst/>
          </a:prstGeom>
          <a:noFill/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2800" y="4559300"/>
            <a:ext cx="158283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87.7%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812800" y="4991100"/>
            <a:ext cx="158283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 them lost money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106442" y="4559300"/>
            <a:ext cx="0" cy="662930"/>
          </a:xfrm>
          <a:prstGeom prst="line">
            <a:avLst/>
          </a:prstGeom>
          <a:noFill/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967137" y="4559300"/>
            <a:ext cx="1883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₹1.17 lakh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2967137" y="4991100"/>
            <a:ext cx="18830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average loss per trader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17592" y="4559300"/>
            <a:ext cx="1674416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78.6 lakh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5417592" y="4991100"/>
            <a:ext cx="167441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people. In one year.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972800" y="6390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E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400" y="254000"/>
            <a:ext cx="765026" cy="533400"/>
          </a:xfrm>
          <a:prstGeom prst="rect">
            <a:avLst/>
          </a:prstGeom>
        </p:spPr>
      </p:pic>
      <p:pic>
        <p:nvPicPr>
          <p:cNvPr id="3" name="Image 1" descr="UEM">    </p:cNvPr>
          <p:cNvPicPr>
            <a:picLocks noChangeAspect="1"/>
          </p:cNvPicPr>
          <p:nvPr/>
        </p:nvPicPr>
        <p:blipFill>
          <a:blip r:embed="rId2"/>
          <a:srcRect l="0" r="0" t="-2" b="-2"/>
          <a:stretch/>
        </p:blipFill>
        <p:spPr>
          <a:xfrm>
            <a:off x="11039574" y="254000"/>
            <a:ext cx="746026" cy="533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681186"/>
            <a:ext cx="52324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812800" y="1090116"/>
            <a:ext cx="5232400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4000" spc="-100" kern="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youngest traders lose the most.</a:t>
            </a:r>
            <a:endParaRPr lang="en-US" sz="4000" dirty="0"/>
          </a:p>
        </p:txBody>
      </p:sp>
      <p:sp>
        <p:nvSpPr>
          <p:cNvPr id="6" name="Shape 2"/>
          <p:cNvSpPr/>
          <p:nvPr/>
        </p:nvSpPr>
        <p:spPr>
          <a:xfrm>
            <a:off x="812800" y="2310507"/>
            <a:ext cx="5080000" cy="0"/>
          </a:xfrm>
          <a:prstGeom prst="line">
            <a:avLst/>
          </a:prstGeom>
          <a:noFill/>
          <a:ln w="12700">
            <a:solidFill>
              <a:srgbClr val="14213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12800" y="2431157"/>
            <a:ext cx="15113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C1272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43%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2451100" y="2637532"/>
            <a:ext cx="3544951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 India's F&amp;O traders are now under 30 — up from 31% four years ago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12800" y="3217267"/>
            <a:ext cx="5080000" cy="0"/>
          </a:xfrm>
          <a:prstGeom prst="line">
            <a:avLst/>
          </a:prstGeom>
          <a:noFill/>
          <a:ln w="6350">
            <a:solidFill>
              <a:srgbClr val="C9BB8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2800" y="3334742"/>
            <a:ext cx="15113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C1272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89%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2451100" y="3541117"/>
            <a:ext cx="3544951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 those under-30s lost money — worse than any other age group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2800" y="4120852"/>
            <a:ext cx="5080000" cy="0"/>
          </a:xfrm>
          <a:prstGeom prst="line">
            <a:avLst/>
          </a:prstGeom>
          <a:noFill/>
          <a:ln w="6350">
            <a:solidFill>
              <a:srgbClr val="C9BB8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12800" y="4238327"/>
            <a:ext cx="15113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C1272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3 in 4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2451100" y="4444702"/>
            <a:ext cx="3544951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earn under ₹5 lakh a year. They are learning on money they cannot afford to lose.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12800" y="5430193"/>
            <a:ext cx="5232400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74% of Indians who don't invest say the market is too complex. They don't need another video. They need a place to practise.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996006" y="1004540"/>
            <a:ext cx="368633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100 TRADERS UNDER 30, ONE YEAR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816725" y="1397595"/>
            <a:ext cx="4044950" cy="4045049"/>
          </a:xfrm>
          <a:prstGeom prst="roundRect">
            <a:avLst>
              <a:gd name="adj" fmla="val 2904"/>
            </a:avLst>
          </a:prstGeom>
          <a:solidFill>
            <a:srgbClr val="FFFDF6"/>
          </a:solidFill>
          <a:ln w="19050">
            <a:solidFill>
              <a:srgbClr val="14213D"/>
            </a:solidFill>
            <a:prstDash val="solid"/>
          </a:ln>
          <a:effectLst>
            <a:outerShdw sx="100000" sy="100000" kx="0" ky="0" algn="bl" rotWithShape="0" blurRad="0" dist="143684" dir="2700000">
              <a:srgbClr val="C1272D">
                <a:alpha val="10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78650" y="155952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0F7B4C"/>
          </a:solidFill>
          <a:ln/>
        </p:spPr>
      </p:sp>
      <p:sp>
        <p:nvSpPr>
          <p:cNvPr id="19" name="Shape 15"/>
          <p:cNvSpPr/>
          <p:nvPr/>
        </p:nvSpPr>
        <p:spPr>
          <a:xfrm>
            <a:off x="7357070" y="155952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0F7B4C"/>
          </a:solidFill>
          <a:ln/>
        </p:spPr>
      </p:sp>
      <p:sp>
        <p:nvSpPr>
          <p:cNvPr id="20" name="Shape 16"/>
          <p:cNvSpPr/>
          <p:nvPr/>
        </p:nvSpPr>
        <p:spPr>
          <a:xfrm>
            <a:off x="7735540" y="155952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0F7B4C"/>
          </a:solidFill>
          <a:ln/>
        </p:spPr>
      </p:sp>
      <p:sp>
        <p:nvSpPr>
          <p:cNvPr id="21" name="Shape 17"/>
          <p:cNvSpPr/>
          <p:nvPr/>
        </p:nvSpPr>
        <p:spPr>
          <a:xfrm>
            <a:off x="8114010" y="155952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0F7B4C"/>
          </a:solidFill>
          <a:ln/>
        </p:spPr>
      </p:sp>
      <p:sp>
        <p:nvSpPr>
          <p:cNvPr id="22" name="Shape 18"/>
          <p:cNvSpPr/>
          <p:nvPr/>
        </p:nvSpPr>
        <p:spPr>
          <a:xfrm>
            <a:off x="8492480" y="155952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0F7B4C"/>
          </a:solidFill>
          <a:ln/>
        </p:spPr>
      </p:sp>
      <p:sp>
        <p:nvSpPr>
          <p:cNvPr id="23" name="Shape 19"/>
          <p:cNvSpPr/>
          <p:nvPr/>
        </p:nvSpPr>
        <p:spPr>
          <a:xfrm>
            <a:off x="8870900" y="155952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0F7B4C"/>
          </a:solidFill>
          <a:ln/>
        </p:spPr>
      </p:sp>
      <p:sp>
        <p:nvSpPr>
          <p:cNvPr id="24" name="Shape 20"/>
          <p:cNvSpPr/>
          <p:nvPr/>
        </p:nvSpPr>
        <p:spPr>
          <a:xfrm>
            <a:off x="9249370" y="155952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0F7B4C"/>
          </a:solidFill>
          <a:ln/>
        </p:spPr>
      </p:sp>
      <p:sp>
        <p:nvSpPr>
          <p:cNvPr id="25" name="Shape 21"/>
          <p:cNvSpPr/>
          <p:nvPr/>
        </p:nvSpPr>
        <p:spPr>
          <a:xfrm>
            <a:off x="9627840" y="155952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0F7B4C"/>
          </a:solidFill>
          <a:ln/>
        </p:spPr>
      </p:sp>
      <p:sp>
        <p:nvSpPr>
          <p:cNvPr id="26" name="Shape 22"/>
          <p:cNvSpPr/>
          <p:nvPr/>
        </p:nvSpPr>
        <p:spPr>
          <a:xfrm>
            <a:off x="10006310" y="155952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0F7B4C"/>
          </a:solidFill>
          <a:ln/>
        </p:spPr>
      </p:sp>
      <p:sp>
        <p:nvSpPr>
          <p:cNvPr id="27" name="Shape 23"/>
          <p:cNvSpPr/>
          <p:nvPr/>
        </p:nvSpPr>
        <p:spPr>
          <a:xfrm>
            <a:off x="10384780" y="155952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0F7B4C"/>
          </a:solidFill>
          <a:ln/>
        </p:spPr>
      </p:sp>
      <p:sp>
        <p:nvSpPr>
          <p:cNvPr id="28" name="Shape 24"/>
          <p:cNvSpPr/>
          <p:nvPr/>
        </p:nvSpPr>
        <p:spPr>
          <a:xfrm>
            <a:off x="6978650" y="193799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0F7B4C"/>
          </a:solidFill>
          <a:ln/>
        </p:spPr>
      </p:sp>
      <p:sp>
        <p:nvSpPr>
          <p:cNvPr id="29" name="Shape 25"/>
          <p:cNvSpPr/>
          <p:nvPr/>
        </p:nvSpPr>
        <p:spPr>
          <a:xfrm>
            <a:off x="7357070" y="193799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30" name="Shape 26"/>
          <p:cNvSpPr/>
          <p:nvPr/>
        </p:nvSpPr>
        <p:spPr>
          <a:xfrm>
            <a:off x="7735540" y="193799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31" name="Shape 27"/>
          <p:cNvSpPr/>
          <p:nvPr/>
        </p:nvSpPr>
        <p:spPr>
          <a:xfrm>
            <a:off x="8114010" y="193799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32" name="Shape 28"/>
          <p:cNvSpPr/>
          <p:nvPr/>
        </p:nvSpPr>
        <p:spPr>
          <a:xfrm>
            <a:off x="8492480" y="193799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33" name="Shape 29"/>
          <p:cNvSpPr/>
          <p:nvPr/>
        </p:nvSpPr>
        <p:spPr>
          <a:xfrm>
            <a:off x="8870900" y="193799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34" name="Shape 30"/>
          <p:cNvSpPr/>
          <p:nvPr/>
        </p:nvSpPr>
        <p:spPr>
          <a:xfrm>
            <a:off x="9249370" y="193799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35" name="Shape 31"/>
          <p:cNvSpPr/>
          <p:nvPr/>
        </p:nvSpPr>
        <p:spPr>
          <a:xfrm>
            <a:off x="9627840" y="193799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36" name="Shape 32"/>
          <p:cNvSpPr/>
          <p:nvPr/>
        </p:nvSpPr>
        <p:spPr>
          <a:xfrm>
            <a:off x="10006310" y="193799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37" name="Shape 33"/>
          <p:cNvSpPr/>
          <p:nvPr/>
        </p:nvSpPr>
        <p:spPr>
          <a:xfrm>
            <a:off x="10384780" y="193799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38" name="Shape 34"/>
          <p:cNvSpPr/>
          <p:nvPr/>
        </p:nvSpPr>
        <p:spPr>
          <a:xfrm>
            <a:off x="6978650" y="231646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39" name="Shape 35"/>
          <p:cNvSpPr/>
          <p:nvPr/>
        </p:nvSpPr>
        <p:spPr>
          <a:xfrm>
            <a:off x="7357070" y="231646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40" name="Shape 36"/>
          <p:cNvSpPr/>
          <p:nvPr/>
        </p:nvSpPr>
        <p:spPr>
          <a:xfrm>
            <a:off x="7735540" y="231646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41" name="Shape 37"/>
          <p:cNvSpPr/>
          <p:nvPr/>
        </p:nvSpPr>
        <p:spPr>
          <a:xfrm>
            <a:off x="8114010" y="231646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42" name="Shape 38"/>
          <p:cNvSpPr/>
          <p:nvPr/>
        </p:nvSpPr>
        <p:spPr>
          <a:xfrm>
            <a:off x="8492480" y="231646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43" name="Shape 39"/>
          <p:cNvSpPr/>
          <p:nvPr/>
        </p:nvSpPr>
        <p:spPr>
          <a:xfrm>
            <a:off x="8870900" y="231646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44" name="Shape 40"/>
          <p:cNvSpPr/>
          <p:nvPr/>
        </p:nvSpPr>
        <p:spPr>
          <a:xfrm>
            <a:off x="9249370" y="231646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45" name="Shape 41"/>
          <p:cNvSpPr/>
          <p:nvPr/>
        </p:nvSpPr>
        <p:spPr>
          <a:xfrm>
            <a:off x="9627840" y="231646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46" name="Shape 42"/>
          <p:cNvSpPr/>
          <p:nvPr/>
        </p:nvSpPr>
        <p:spPr>
          <a:xfrm>
            <a:off x="10006310" y="231646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47" name="Shape 43"/>
          <p:cNvSpPr/>
          <p:nvPr/>
        </p:nvSpPr>
        <p:spPr>
          <a:xfrm>
            <a:off x="10384780" y="231646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48" name="Shape 44"/>
          <p:cNvSpPr/>
          <p:nvPr/>
        </p:nvSpPr>
        <p:spPr>
          <a:xfrm>
            <a:off x="6978650" y="269493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49" name="Shape 45"/>
          <p:cNvSpPr/>
          <p:nvPr/>
        </p:nvSpPr>
        <p:spPr>
          <a:xfrm>
            <a:off x="7357070" y="269493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50" name="Shape 46"/>
          <p:cNvSpPr/>
          <p:nvPr/>
        </p:nvSpPr>
        <p:spPr>
          <a:xfrm>
            <a:off x="7735540" y="269493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51" name="Shape 47"/>
          <p:cNvSpPr/>
          <p:nvPr/>
        </p:nvSpPr>
        <p:spPr>
          <a:xfrm>
            <a:off x="8114010" y="269493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52" name="Shape 48"/>
          <p:cNvSpPr/>
          <p:nvPr/>
        </p:nvSpPr>
        <p:spPr>
          <a:xfrm>
            <a:off x="8492480" y="269493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53" name="Shape 49"/>
          <p:cNvSpPr/>
          <p:nvPr/>
        </p:nvSpPr>
        <p:spPr>
          <a:xfrm>
            <a:off x="8870900" y="269493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54" name="Shape 50"/>
          <p:cNvSpPr/>
          <p:nvPr/>
        </p:nvSpPr>
        <p:spPr>
          <a:xfrm>
            <a:off x="9249370" y="269493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55" name="Shape 51"/>
          <p:cNvSpPr/>
          <p:nvPr/>
        </p:nvSpPr>
        <p:spPr>
          <a:xfrm>
            <a:off x="9627840" y="269493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56" name="Shape 52"/>
          <p:cNvSpPr/>
          <p:nvPr/>
        </p:nvSpPr>
        <p:spPr>
          <a:xfrm>
            <a:off x="10006310" y="269493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57" name="Shape 53"/>
          <p:cNvSpPr/>
          <p:nvPr/>
        </p:nvSpPr>
        <p:spPr>
          <a:xfrm>
            <a:off x="10384780" y="269493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58" name="Shape 54"/>
          <p:cNvSpPr/>
          <p:nvPr/>
        </p:nvSpPr>
        <p:spPr>
          <a:xfrm>
            <a:off x="6978650" y="307340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59" name="Shape 55"/>
          <p:cNvSpPr/>
          <p:nvPr/>
        </p:nvSpPr>
        <p:spPr>
          <a:xfrm>
            <a:off x="7357070" y="307340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60" name="Shape 56"/>
          <p:cNvSpPr/>
          <p:nvPr/>
        </p:nvSpPr>
        <p:spPr>
          <a:xfrm>
            <a:off x="7735540" y="307340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61" name="Shape 57"/>
          <p:cNvSpPr/>
          <p:nvPr/>
        </p:nvSpPr>
        <p:spPr>
          <a:xfrm>
            <a:off x="8114010" y="307340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62" name="Shape 58"/>
          <p:cNvSpPr/>
          <p:nvPr/>
        </p:nvSpPr>
        <p:spPr>
          <a:xfrm>
            <a:off x="8492480" y="307340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63" name="Shape 59"/>
          <p:cNvSpPr/>
          <p:nvPr/>
        </p:nvSpPr>
        <p:spPr>
          <a:xfrm>
            <a:off x="8870900" y="307340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64" name="Shape 60"/>
          <p:cNvSpPr/>
          <p:nvPr/>
        </p:nvSpPr>
        <p:spPr>
          <a:xfrm>
            <a:off x="9249370" y="307340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65" name="Shape 61"/>
          <p:cNvSpPr/>
          <p:nvPr/>
        </p:nvSpPr>
        <p:spPr>
          <a:xfrm>
            <a:off x="9627840" y="307340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0006310" y="307340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67" name="Shape 63"/>
          <p:cNvSpPr/>
          <p:nvPr/>
        </p:nvSpPr>
        <p:spPr>
          <a:xfrm>
            <a:off x="10384780" y="307340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68" name="Shape 64"/>
          <p:cNvSpPr/>
          <p:nvPr/>
        </p:nvSpPr>
        <p:spPr>
          <a:xfrm>
            <a:off x="6978650" y="345187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69" name="Shape 65"/>
          <p:cNvSpPr/>
          <p:nvPr/>
        </p:nvSpPr>
        <p:spPr>
          <a:xfrm>
            <a:off x="7357070" y="345187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70" name="Shape 66"/>
          <p:cNvSpPr/>
          <p:nvPr/>
        </p:nvSpPr>
        <p:spPr>
          <a:xfrm>
            <a:off x="7735540" y="345187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71" name="Shape 67"/>
          <p:cNvSpPr/>
          <p:nvPr/>
        </p:nvSpPr>
        <p:spPr>
          <a:xfrm>
            <a:off x="8114010" y="345187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72" name="Shape 68"/>
          <p:cNvSpPr/>
          <p:nvPr/>
        </p:nvSpPr>
        <p:spPr>
          <a:xfrm>
            <a:off x="8492480" y="345187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73" name="Shape 69"/>
          <p:cNvSpPr/>
          <p:nvPr/>
        </p:nvSpPr>
        <p:spPr>
          <a:xfrm>
            <a:off x="8870900" y="345187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74" name="Shape 70"/>
          <p:cNvSpPr/>
          <p:nvPr/>
        </p:nvSpPr>
        <p:spPr>
          <a:xfrm>
            <a:off x="9249370" y="345187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75" name="Shape 71"/>
          <p:cNvSpPr/>
          <p:nvPr/>
        </p:nvSpPr>
        <p:spPr>
          <a:xfrm>
            <a:off x="9627840" y="345187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76" name="Shape 72"/>
          <p:cNvSpPr/>
          <p:nvPr/>
        </p:nvSpPr>
        <p:spPr>
          <a:xfrm>
            <a:off x="10006310" y="345187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77" name="Shape 73"/>
          <p:cNvSpPr/>
          <p:nvPr/>
        </p:nvSpPr>
        <p:spPr>
          <a:xfrm>
            <a:off x="10384780" y="345187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78" name="Shape 74"/>
          <p:cNvSpPr/>
          <p:nvPr/>
        </p:nvSpPr>
        <p:spPr>
          <a:xfrm>
            <a:off x="6978650" y="383034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79" name="Shape 75"/>
          <p:cNvSpPr/>
          <p:nvPr/>
        </p:nvSpPr>
        <p:spPr>
          <a:xfrm>
            <a:off x="7357070" y="383034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80" name="Shape 76"/>
          <p:cNvSpPr/>
          <p:nvPr/>
        </p:nvSpPr>
        <p:spPr>
          <a:xfrm>
            <a:off x="7735540" y="383034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81" name="Shape 77"/>
          <p:cNvSpPr/>
          <p:nvPr/>
        </p:nvSpPr>
        <p:spPr>
          <a:xfrm>
            <a:off x="8114010" y="383034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82" name="Shape 78"/>
          <p:cNvSpPr/>
          <p:nvPr/>
        </p:nvSpPr>
        <p:spPr>
          <a:xfrm>
            <a:off x="8492480" y="383034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83" name="Shape 79"/>
          <p:cNvSpPr/>
          <p:nvPr/>
        </p:nvSpPr>
        <p:spPr>
          <a:xfrm>
            <a:off x="8870900" y="383034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84" name="Shape 80"/>
          <p:cNvSpPr/>
          <p:nvPr/>
        </p:nvSpPr>
        <p:spPr>
          <a:xfrm>
            <a:off x="9249370" y="383034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85" name="Shape 81"/>
          <p:cNvSpPr/>
          <p:nvPr/>
        </p:nvSpPr>
        <p:spPr>
          <a:xfrm>
            <a:off x="9627840" y="383034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86" name="Shape 82"/>
          <p:cNvSpPr/>
          <p:nvPr/>
        </p:nvSpPr>
        <p:spPr>
          <a:xfrm>
            <a:off x="10006310" y="383034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87" name="Shape 83"/>
          <p:cNvSpPr/>
          <p:nvPr/>
        </p:nvSpPr>
        <p:spPr>
          <a:xfrm>
            <a:off x="10384780" y="383034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88" name="Shape 84"/>
          <p:cNvSpPr/>
          <p:nvPr/>
        </p:nvSpPr>
        <p:spPr>
          <a:xfrm>
            <a:off x="6978650" y="420881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89" name="Shape 85"/>
          <p:cNvSpPr/>
          <p:nvPr/>
        </p:nvSpPr>
        <p:spPr>
          <a:xfrm>
            <a:off x="7357070" y="420881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90" name="Shape 86"/>
          <p:cNvSpPr/>
          <p:nvPr/>
        </p:nvSpPr>
        <p:spPr>
          <a:xfrm>
            <a:off x="7735540" y="420881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91" name="Shape 87"/>
          <p:cNvSpPr/>
          <p:nvPr/>
        </p:nvSpPr>
        <p:spPr>
          <a:xfrm>
            <a:off x="8114010" y="420881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92" name="Shape 88"/>
          <p:cNvSpPr/>
          <p:nvPr/>
        </p:nvSpPr>
        <p:spPr>
          <a:xfrm>
            <a:off x="8492480" y="420881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93" name="Shape 89"/>
          <p:cNvSpPr/>
          <p:nvPr/>
        </p:nvSpPr>
        <p:spPr>
          <a:xfrm>
            <a:off x="8870900" y="420881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94" name="Shape 90"/>
          <p:cNvSpPr/>
          <p:nvPr/>
        </p:nvSpPr>
        <p:spPr>
          <a:xfrm>
            <a:off x="9249370" y="420881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95" name="Shape 91"/>
          <p:cNvSpPr/>
          <p:nvPr/>
        </p:nvSpPr>
        <p:spPr>
          <a:xfrm>
            <a:off x="9627840" y="420881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96" name="Shape 92"/>
          <p:cNvSpPr/>
          <p:nvPr/>
        </p:nvSpPr>
        <p:spPr>
          <a:xfrm>
            <a:off x="10006310" y="420881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97" name="Shape 93"/>
          <p:cNvSpPr/>
          <p:nvPr/>
        </p:nvSpPr>
        <p:spPr>
          <a:xfrm>
            <a:off x="10384780" y="420881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98" name="Shape 94"/>
          <p:cNvSpPr/>
          <p:nvPr/>
        </p:nvSpPr>
        <p:spPr>
          <a:xfrm>
            <a:off x="6978650" y="458728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99" name="Shape 95"/>
          <p:cNvSpPr/>
          <p:nvPr/>
        </p:nvSpPr>
        <p:spPr>
          <a:xfrm>
            <a:off x="7357070" y="458728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100" name="Shape 96"/>
          <p:cNvSpPr/>
          <p:nvPr/>
        </p:nvSpPr>
        <p:spPr>
          <a:xfrm>
            <a:off x="7735540" y="458728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101" name="Shape 97"/>
          <p:cNvSpPr/>
          <p:nvPr/>
        </p:nvSpPr>
        <p:spPr>
          <a:xfrm>
            <a:off x="8114010" y="458728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102" name="Shape 98"/>
          <p:cNvSpPr/>
          <p:nvPr/>
        </p:nvSpPr>
        <p:spPr>
          <a:xfrm>
            <a:off x="8492480" y="458728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103" name="Shape 99"/>
          <p:cNvSpPr/>
          <p:nvPr/>
        </p:nvSpPr>
        <p:spPr>
          <a:xfrm>
            <a:off x="8870900" y="458728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104" name="Shape 100"/>
          <p:cNvSpPr/>
          <p:nvPr/>
        </p:nvSpPr>
        <p:spPr>
          <a:xfrm>
            <a:off x="9249370" y="458728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105" name="Shape 101"/>
          <p:cNvSpPr/>
          <p:nvPr/>
        </p:nvSpPr>
        <p:spPr>
          <a:xfrm>
            <a:off x="9627840" y="458728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106" name="Shape 102"/>
          <p:cNvSpPr/>
          <p:nvPr/>
        </p:nvSpPr>
        <p:spPr>
          <a:xfrm>
            <a:off x="10006310" y="458728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107" name="Shape 103"/>
          <p:cNvSpPr/>
          <p:nvPr/>
        </p:nvSpPr>
        <p:spPr>
          <a:xfrm>
            <a:off x="10384780" y="458728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108" name="Shape 104"/>
          <p:cNvSpPr/>
          <p:nvPr/>
        </p:nvSpPr>
        <p:spPr>
          <a:xfrm>
            <a:off x="6978650" y="496575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109" name="Shape 105"/>
          <p:cNvSpPr/>
          <p:nvPr/>
        </p:nvSpPr>
        <p:spPr>
          <a:xfrm>
            <a:off x="7357070" y="496575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110" name="Shape 106"/>
          <p:cNvSpPr/>
          <p:nvPr/>
        </p:nvSpPr>
        <p:spPr>
          <a:xfrm>
            <a:off x="7735540" y="496575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111" name="Shape 107"/>
          <p:cNvSpPr/>
          <p:nvPr/>
        </p:nvSpPr>
        <p:spPr>
          <a:xfrm>
            <a:off x="8114010" y="496575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112" name="Shape 108"/>
          <p:cNvSpPr/>
          <p:nvPr/>
        </p:nvSpPr>
        <p:spPr>
          <a:xfrm>
            <a:off x="8492480" y="496575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113" name="Shape 109"/>
          <p:cNvSpPr/>
          <p:nvPr/>
        </p:nvSpPr>
        <p:spPr>
          <a:xfrm>
            <a:off x="8870900" y="496575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114" name="Shape 110"/>
          <p:cNvSpPr/>
          <p:nvPr/>
        </p:nvSpPr>
        <p:spPr>
          <a:xfrm>
            <a:off x="9249370" y="496575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115" name="Shape 111"/>
          <p:cNvSpPr/>
          <p:nvPr/>
        </p:nvSpPr>
        <p:spPr>
          <a:xfrm>
            <a:off x="9627840" y="496575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116" name="Shape 112"/>
          <p:cNvSpPr/>
          <p:nvPr/>
        </p:nvSpPr>
        <p:spPr>
          <a:xfrm>
            <a:off x="10006310" y="4965750"/>
            <a:ext cx="314970" cy="31497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117" name="Shape 113"/>
          <p:cNvSpPr/>
          <p:nvPr/>
        </p:nvSpPr>
        <p:spPr>
          <a:xfrm>
            <a:off x="10384780" y="4965750"/>
            <a:ext cx="314920" cy="31492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118" name="Shape 114"/>
          <p:cNvSpPr/>
          <p:nvPr/>
        </p:nvSpPr>
        <p:spPr>
          <a:xfrm>
            <a:off x="7192417" y="564009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119" name="Text 115"/>
          <p:cNvSpPr/>
          <p:nvPr/>
        </p:nvSpPr>
        <p:spPr>
          <a:xfrm>
            <a:off x="7446417" y="5604570"/>
            <a:ext cx="127248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89 lost money</a:t>
            </a:r>
            <a:endParaRPr lang="en-US" sz="1400" dirty="0"/>
          </a:p>
        </p:txBody>
      </p:sp>
      <p:sp>
        <p:nvSpPr>
          <p:cNvPr id="120" name="Shape 116"/>
          <p:cNvSpPr/>
          <p:nvPr/>
        </p:nvSpPr>
        <p:spPr>
          <a:xfrm>
            <a:off x="8922097" y="564009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0F7B4C"/>
          </a:solidFill>
          <a:ln/>
        </p:spPr>
      </p:sp>
      <p:sp>
        <p:nvSpPr>
          <p:cNvPr id="121" name="Text 117"/>
          <p:cNvSpPr/>
          <p:nvPr/>
        </p:nvSpPr>
        <p:spPr>
          <a:xfrm>
            <a:off x="9176097" y="5604570"/>
            <a:ext cx="13606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 made money</a:t>
            </a:r>
            <a:endParaRPr lang="en-US" sz="1400" dirty="0"/>
          </a:p>
        </p:txBody>
      </p:sp>
      <p:sp>
        <p:nvSpPr>
          <p:cNvPr id="122" name="Text 118"/>
          <p:cNvSpPr/>
          <p:nvPr/>
        </p:nvSpPr>
        <p:spPr>
          <a:xfrm>
            <a:off x="10972800" y="6390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E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400" y="254000"/>
            <a:ext cx="765026" cy="533400"/>
          </a:xfrm>
          <a:prstGeom prst="rect">
            <a:avLst/>
          </a:prstGeom>
        </p:spPr>
      </p:pic>
      <p:pic>
        <p:nvPicPr>
          <p:cNvPr id="3" name="Image 1" descr="UEM">    </p:cNvPr>
          <p:cNvPicPr>
            <a:picLocks noChangeAspect="1"/>
          </p:cNvPicPr>
          <p:nvPr/>
        </p:nvPicPr>
        <p:blipFill>
          <a:blip r:embed="rId2"/>
          <a:srcRect l="0" r="0" t="-2" b="-2"/>
          <a:stretch/>
        </p:blipFill>
        <p:spPr>
          <a:xfrm>
            <a:off x="11039574" y="254000"/>
            <a:ext cx="746026" cy="533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812800"/>
            <a:ext cx="4185920" cy="250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268" b="1" spc="25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SOLUTION</a:t>
            </a:r>
            <a:endParaRPr lang="en-US" sz="1268" dirty="0"/>
          </a:p>
        </p:txBody>
      </p:sp>
      <p:sp>
        <p:nvSpPr>
          <p:cNvPr id="5" name="Text 1"/>
          <p:cNvSpPr/>
          <p:nvPr/>
        </p:nvSpPr>
        <p:spPr>
          <a:xfrm>
            <a:off x="812800" y="1241276"/>
            <a:ext cx="4185920" cy="1465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91"/>
              </a:lnSpc>
              <a:buNone/>
            </a:pPr>
            <a:r>
              <a:rPr lang="en-US" sz="3717" spc="-100" kern="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Trade the real market. Lose nothing.</a:t>
            </a:r>
            <a:endParaRPr lang="en-US" sz="3717" dirty="0"/>
          </a:p>
        </p:txBody>
      </p:sp>
      <p:sp>
        <p:nvSpPr>
          <p:cNvPr id="6" name="Shape 2"/>
          <p:cNvSpPr/>
          <p:nvPr/>
        </p:nvSpPr>
        <p:spPr>
          <a:xfrm>
            <a:off x="812800" y="2890589"/>
            <a:ext cx="4064000" cy="0"/>
          </a:xfrm>
          <a:prstGeom prst="line">
            <a:avLst/>
          </a:prstGeom>
          <a:noFill/>
          <a:ln w="12700">
            <a:solidFill>
              <a:srgbClr val="14213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12800" y="3011239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371600" y="3087439"/>
            <a:ext cx="361035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NSE &amp; BSE prices — the same candles a broker terminal shows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12800" y="3682454"/>
            <a:ext cx="4064000" cy="0"/>
          </a:xfrm>
          <a:prstGeom prst="line">
            <a:avLst/>
          </a:prstGeom>
          <a:noFill/>
          <a:ln w="6350">
            <a:solidFill>
              <a:srgbClr val="C9BB8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2800" y="3799929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371600" y="3876129"/>
            <a:ext cx="361035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Market, limit and stop orders; intraday and delivery; long and short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2800" y="4471095"/>
            <a:ext cx="4064000" cy="0"/>
          </a:xfrm>
          <a:prstGeom prst="line">
            <a:avLst/>
          </a:prstGeom>
          <a:noFill/>
          <a:ln w="6350">
            <a:solidFill>
              <a:srgbClr val="C9BB8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12800" y="458857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1371600" y="4664770"/>
            <a:ext cx="361035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Faculty host a room; every student starts with the same virtual corpus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12800" y="5259735"/>
            <a:ext cx="4064000" cy="0"/>
          </a:xfrm>
          <a:prstGeom prst="line">
            <a:avLst/>
          </a:prstGeom>
          <a:noFill/>
          <a:ln w="6350">
            <a:solidFill>
              <a:srgbClr val="C9BB8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12800" y="537721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371600" y="5453410"/>
            <a:ext cx="361035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live leaderboard ranks the room by P&amp;L — zero real money at risk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842000" y="812800"/>
            <a:ext cx="5537200" cy="5232400"/>
          </a:xfrm>
          <a:prstGeom prst="roundRect">
            <a:avLst>
              <a:gd name="adj" fmla="val 3398"/>
            </a:avLst>
          </a:prstGeom>
          <a:solidFill>
            <a:srgbClr val="F9EBBF"/>
          </a:solidFill>
          <a:ln/>
        </p:spPr>
      </p:sp>
      <p:pic>
        <p:nvPicPr>
          <p:cNvPr id="19" name="Image 2" descr="TradeSim stock page: live candlestick chart and buy/sell panel">    </p:cNvPr>
          <p:cNvPicPr>
            <a:picLocks noChangeAspect="1"/>
          </p:cNvPicPr>
          <p:nvPr/>
        </p:nvPicPr>
        <p:blipFill>
          <a:blip r:embed="rId3"/>
          <a:srcRect l="0" r="0" t="277" b="277"/>
          <a:stretch/>
        </p:blipFill>
        <p:spPr>
          <a:xfrm>
            <a:off x="5251450" y="1289050"/>
            <a:ext cx="5676900" cy="3206750"/>
          </a:xfrm>
          <a:prstGeom prst="rect">
            <a:avLst/>
          </a:prstGeom>
          <a:effectLst>
            <a:outerShdw sx="100000" sy="100000" kx="0" ky="0" algn="bl" rotWithShape="0" blurRad="0" dist="161645" dir="2700000">
              <a:srgbClr val="14213D">
                <a:alpha val="100000"/>
              </a:srgbClr>
            </a:outerShdw>
          </a:effectLst>
        </p:spPr>
      </p:pic>
      <p:sp>
        <p:nvSpPr>
          <p:cNvPr id="20" name="Shape 15"/>
          <p:cNvSpPr/>
          <p:nvPr/>
        </p:nvSpPr>
        <p:spPr>
          <a:xfrm>
            <a:off x="5241925" y="1279525"/>
            <a:ext cx="5695950" cy="3225800"/>
          </a:xfrm>
          <a:prstGeom prst="rect">
            <a:avLst/>
          </a:prstGeom>
          <a:noFill/>
          <a:ln w="19050">
            <a:solidFill>
              <a:srgbClr val="14213D"/>
            </a:solidFill>
            <a:prstDash val="solid"/>
          </a:ln>
        </p:spPr>
      </p:sp>
      <p:pic>
        <p:nvPicPr>
          <p:cNvPr id="21" name="Image 3" descr="TradeSim competition room dashboard">    </p:cNvPr>
          <p:cNvPicPr>
            <a:picLocks noChangeAspect="1"/>
          </p:cNvPicPr>
          <p:nvPr/>
        </p:nvPicPr>
        <p:blipFill>
          <a:blip r:embed="rId4"/>
          <a:srcRect l="0" r="0" t="383" b="383"/>
          <a:stretch/>
        </p:blipFill>
        <p:spPr>
          <a:xfrm rot="21420000">
            <a:off x="5403850" y="4006850"/>
            <a:ext cx="3390900" cy="1911350"/>
          </a:xfrm>
          <a:prstGeom prst="rect">
            <a:avLst/>
          </a:prstGeom>
          <a:effectLst>
            <a:outerShdw sx="100000" sy="100000" kx="0" ky="0" algn="bl" rotWithShape="0" blurRad="0" dist="107763" dir="2700000">
              <a:srgbClr val="E8A800">
                <a:alpha val="100000"/>
              </a:srgbClr>
            </a:outerShdw>
          </a:effectLst>
        </p:spPr>
      </p:pic>
      <p:sp>
        <p:nvSpPr>
          <p:cNvPr id="22" name="Shape 16"/>
          <p:cNvSpPr/>
          <p:nvPr/>
        </p:nvSpPr>
        <p:spPr>
          <a:xfrm rot="21420000">
            <a:off x="5394325" y="3997325"/>
            <a:ext cx="3409950" cy="1930400"/>
          </a:xfrm>
          <a:prstGeom prst="rect">
            <a:avLst/>
          </a:prstGeom>
          <a:noFill/>
          <a:ln w="19050">
            <a:solidFill>
              <a:srgbClr val="14213D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 rot="180000">
            <a:off x="9302750" y="970260"/>
            <a:ext cx="1892300" cy="35560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0" dist="53882" dir="2700000">
              <a:srgbClr val="0F7B4C">
                <a:alpha val="100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 rot="180000">
            <a:off x="9422735" y="1040093"/>
            <a:ext cx="1651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NSE / BSE feed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042400" y="5448300"/>
            <a:ext cx="22237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Actual product screens, Sept 2026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0972800" y="6390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E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400" y="254000"/>
            <a:ext cx="765026" cy="533400"/>
          </a:xfrm>
          <a:prstGeom prst="rect">
            <a:avLst/>
          </a:prstGeom>
        </p:spPr>
      </p:pic>
      <p:pic>
        <p:nvPicPr>
          <p:cNvPr id="3" name="Image 1" descr="UEM">    </p:cNvPr>
          <p:cNvPicPr>
            <a:picLocks noChangeAspect="1"/>
          </p:cNvPicPr>
          <p:nvPr/>
        </p:nvPicPr>
        <p:blipFill>
          <a:blip r:embed="rId2"/>
          <a:srcRect l="0" r="0" t="-2" b="-2"/>
          <a:stretch/>
        </p:blipFill>
        <p:spPr>
          <a:xfrm>
            <a:off x="11039574" y="254000"/>
            <a:ext cx="746026" cy="533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812800"/>
            <a:ext cx="80420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812800" y="1120130"/>
            <a:ext cx="804205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spc="-100" kern="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One room. One corpus. One leaderboard.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8632190" y="906760"/>
            <a:ext cx="274701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full trading competition, hosted by a teacher, in under five minutes.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939800" y="1854150"/>
            <a:ext cx="196215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dirty="0">
                <a:solidFill>
                  <a:srgbClr val="14213D">
                    <a:alpha val="6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</a:t>
            </a:r>
            <a:endParaRPr lang="en-US" sz="15000" dirty="0"/>
          </a:p>
        </p:txBody>
      </p:sp>
      <p:sp>
        <p:nvSpPr>
          <p:cNvPr id="8" name="Text 4"/>
          <p:cNvSpPr/>
          <p:nvPr/>
        </p:nvSpPr>
        <p:spPr>
          <a:xfrm>
            <a:off x="3581400" y="1854150"/>
            <a:ext cx="196215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dirty="0">
                <a:solidFill>
                  <a:srgbClr val="14213D">
                    <a:alpha val="6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2</a:t>
            </a:r>
            <a:endParaRPr lang="en-US" sz="15000" dirty="0"/>
          </a:p>
        </p:txBody>
      </p:sp>
      <p:sp>
        <p:nvSpPr>
          <p:cNvPr id="9" name="Text 5"/>
          <p:cNvSpPr/>
          <p:nvPr/>
        </p:nvSpPr>
        <p:spPr>
          <a:xfrm>
            <a:off x="6223000" y="1854150"/>
            <a:ext cx="196215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dirty="0">
                <a:solidFill>
                  <a:srgbClr val="14213D">
                    <a:alpha val="6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3</a:t>
            </a:r>
            <a:endParaRPr lang="en-US" sz="15000" dirty="0"/>
          </a:p>
        </p:txBody>
      </p:sp>
      <p:sp>
        <p:nvSpPr>
          <p:cNvPr id="10" name="Text 6"/>
          <p:cNvSpPr/>
          <p:nvPr/>
        </p:nvSpPr>
        <p:spPr>
          <a:xfrm>
            <a:off x="8864600" y="1854150"/>
            <a:ext cx="196215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dirty="0">
                <a:solidFill>
                  <a:srgbClr val="0F7B4C">
                    <a:alpha val="10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4</a:t>
            </a:r>
            <a:endParaRPr lang="en-US" sz="15000" dirty="0"/>
          </a:p>
        </p:txBody>
      </p:sp>
      <p:sp>
        <p:nvSpPr>
          <p:cNvPr id="11" name="Shape 7"/>
          <p:cNvSpPr/>
          <p:nvPr/>
        </p:nvSpPr>
        <p:spPr>
          <a:xfrm>
            <a:off x="812800" y="3733750"/>
            <a:ext cx="10566400" cy="76200"/>
          </a:xfrm>
          <a:prstGeom prst="roundRect">
            <a:avLst>
              <a:gd name="adj" fmla="val 50000"/>
            </a:avLst>
          </a:prstGeom>
          <a:solidFill>
            <a:srgbClr val="E8A800"/>
          </a:solidFill>
          <a:ln/>
        </p:spPr>
      </p:sp>
      <p:sp>
        <p:nvSpPr>
          <p:cNvPr id="12" name="Shape 8"/>
          <p:cNvSpPr/>
          <p:nvPr/>
        </p:nvSpPr>
        <p:spPr>
          <a:xfrm>
            <a:off x="8737600" y="3733750"/>
            <a:ext cx="2641600" cy="76200"/>
          </a:xfrm>
          <a:prstGeom prst="roundRect">
            <a:avLst>
              <a:gd name="adj" fmla="val 50000"/>
            </a:avLst>
          </a:prstGeom>
          <a:solidFill>
            <a:srgbClr val="0F7B4C"/>
          </a:solidFill>
          <a:ln/>
        </p:spPr>
      </p:sp>
      <p:sp>
        <p:nvSpPr>
          <p:cNvPr id="13" name="Shape 9"/>
          <p:cNvSpPr/>
          <p:nvPr/>
        </p:nvSpPr>
        <p:spPr>
          <a:xfrm>
            <a:off x="825500" y="3530550"/>
            <a:ext cx="482600" cy="48260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0" dist="53882" dir="2700000">
              <a:srgbClr val="14213D">
                <a:alpha val="10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67100" y="3530550"/>
            <a:ext cx="482600" cy="48260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0" dist="53882" dir="2700000">
              <a:srgbClr val="14213D">
                <a:alpha val="10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08700" y="3530550"/>
            <a:ext cx="482600" cy="48260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0" dist="53882" dir="2700000">
              <a:srgbClr val="14213D">
                <a:alpha val="10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750300" y="3530550"/>
            <a:ext cx="482600" cy="482600"/>
          </a:xfrm>
          <a:prstGeom prst="roundRect">
            <a:avLst>
              <a:gd name="adj" fmla="val 50000"/>
            </a:avLst>
          </a:prstGeom>
          <a:solidFill>
            <a:srgbClr val="0F7B4C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0" dist="53882" dir="2700000">
              <a:srgbClr val="14213D">
                <a:alpha val="100000"/>
              </a:srgbClr>
            </a:outerShdw>
          </a:effectLst>
        </p:spPr>
      </p:sp>
      <p:pic>
        <p:nvPicPr>
          <p:cNvPr id="17" name="Image 2" descr="Setting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39800" y="3644850"/>
            <a:ext cx="254000" cy="254000"/>
          </a:xfrm>
          <a:prstGeom prst="rect">
            <a:avLst/>
          </a:prstGeom>
        </p:spPr>
      </p:pic>
      <p:pic>
        <p:nvPicPr>
          <p:cNvPr id="18" name="Image 3" descr="Users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581400" y="3644850"/>
            <a:ext cx="254000" cy="254000"/>
          </a:xfrm>
          <a:prstGeom prst="rect">
            <a:avLst/>
          </a:prstGeom>
        </p:spPr>
      </p:pic>
      <p:pic>
        <p:nvPicPr>
          <p:cNvPr id="19" name="Image 4" descr="Char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223000" y="3644850"/>
            <a:ext cx="254000" cy="254000"/>
          </a:xfrm>
          <a:prstGeom prst="rect">
            <a:avLst/>
          </a:prstGeom>
        </p:spPr>
      </p:pic>
      <p:pic>
        <p:nvPicPr>
          <p:cNvPr id="20" name="Image 5" descr="Sta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864600" y="3644850"/>
            <a:ext cx="254000" cy="2540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12800" y="4267150"/>
            <a:ext cx="2354580" cy="2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5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Faculty opens a room</a:t>
            </a:r>
            <a:endParaRPr lang="en-US" sz="1700" dirty="0"/>
          </a:p>
        </p:txBody>
      </p:sp>
      <p:sp>
        <p:nvSpPr>
          <p:cNvPr id="22" name="Text 14"/>
          <p:cNvSpPr/>
          <p:nvPr/>
        </p:nvSpPr>
        <p:spPr>
          <a:xfrm>
            <a:off x="812800" y="4838650"/>
            <a:ext cx="2354580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Sets the duration, the virtual corpus and the rules. Shares a room code.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3454400" y="4267150"/>
            <a:ext cx="2354580" cy="2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5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Students join</a:t>
            </a:r>
            <a:endParaRPr lang="en-US" sz="1700" dirty="0"/>
          </a:p>
        </p:txBody>
      </p:sp>
      <p:sp>
        <p:nvSpPr>
          <p:cNvPr id="24" name="Text 16"/>
          <p:cNvSpPr/>
          <p:nvPr/>
        </p:nvSpPr>
        <p:spPr>
          <a:xfrm>
            <a:off x="3454400" y="4838650"/>
            <a:ext cx="2354580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Everyone starts with the same virtual capital. No demat, no KYC, no money.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6096000" y="4267150"/>
            <a:ext cx="2354580" cy="521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5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They trade the live market</a:t>
            </a:r>
            <a:endParaRPr lang="en-US" sz="1700" dirty="0"/>
          </a:p>
        </p:txBody>
      </p:sp>
      <p:sp>
        <p:nvSpPr>
          <p:cNvPr id="26" name="Text 18"/>
          <p:cNvSpPr/>
          <p:nvPr/>
        </p:nvSpPr>
        <p:spPr>
          <a:xfrm>
            <a:off x="6096000" y="4838650"/>
            <a:ext cx="235458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 prices, real order types, real volatility. No real losses.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8737600" y="4267150"/>
            <a:ext cx="2720848" cy="2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5"/>
              </a:lnSpc>
              <a:buNone/>
            </a:pPr>
            <a:r>
              <a:rPr lang="en-US" sz="1700" b="1" dirty="0">
                <a:solidFill>
                  <a:srgbClr val="0F7B4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Leaderboard decides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8737600" y="4838650"/>
            <a:ext cx="2720848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Ranked live on realised + unrealised P&amp;L. Faculty sees every trade.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10972800" y="6390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E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400" y="254000"/>
            <a:ext cx="765026" cy="533400"/>
          </a:xfrm>
          <a:prstGeom prst="rect">
            <a:avLst/>
          </a:prstGeom>
        </p:spPr>
      </p:pic>
      <p:pic>
        <p:nvPicPr>
          <p:cNvPr id="3" name="Image 1" descr="UEM">    </p:cNvPr>
          <p:cNvPicPr>
            <a:picLocks noChangeAspect="1"/>
          </p:cNvPicPr>
          <p:nvPr/>
        </p:nvPicPr>
        <p:blipFill>
          <a:blip r:embed="rId2"/>
          <a:srcRect l="0" r="0" t="-2" b="-2"/>
          <a:stretch/>
        </p:blipFill>
        <p:spPr>
          <a:xfrm>
            <a:off x="11039574" y="254000"/>
            <a:ext cx="746026" cy="533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812800"/>
            <a:ext cx="692485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812800" y="1120130"/>
            <a:ext cx="6924857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spc="-100" kern="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Students today. Investors next year.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 rot="120000">
            <a:off x="7905824" y="1198835"/>
            <a:ext cx="3467100" cy="39370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0" dist="53882" dir="2700000">
              <a:srgbClr val="0F7B4C">
                <a:alpha val="10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 rot="120000">
            <a:off x="8076803" y="1283013"/>
            <a:ext cx="321792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59% of new NSE investors are under 30</a:t>
            </a:r>
            <a:endParaRPr lang="en-US" sz="1300" dirty="0"/>
          </a:p>
        </p:txBody>
      </p:sp>
      <p:pic>
        <p:nvPicPr>
          <p:cNvPr id="8" name="Image 2" descr="TAM, SAM and SOM as nested circles: 4.5 crore students, 1.1 crore in commerce, management and engineering, 1 lakh year-one target">    </p:cNvPr>
          <p:cNvPicPr>
            <a:picLocks noChangeAspect="1"/>
          </p:cNvPicPr>
          <p:nvPr/>
        </p:nvPicPr>
        <p:blipFill>
          <a:blip r:embed="rId3"/>
          <a:srcRect l="-20" r="-20" t="0" b="0"/>
          <a:stretch/>
        </p:blipFill>
        <p:spPr>
          <a:xfrm>
            <a:off x="812800" y="1752550"/>
            <a:ext cx="10566400" cy="4064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374900" y="2133550"/>
            <a:ext cx="1066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TAM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2374900" y="3594050"/>
            <a:ext cx="1066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FFFD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2374900" y="5156150"/>
            <a:ext cx="1066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FFFD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SOM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210300" y="2514550"/>
            <a:ext cx="5232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spc="-150" kern="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4.5 crore</a:t>
            </a:r>
            <a:endParaRPr lang="en-US" sz="4800" dirty="0"/>
          </a:p>
        </p:txBody>
      </p:sp>
      <p:sp>
        <p:nvSpPr>
          <p:cNvPr id="13" name="Text 8"/>
          <p:cNvSpPr/>
          <p:nvPr/>
        </p:nvSpPr>
        <p:spPr>
          <a:xfrm>
            <a:off x="6210300" y="3162250"/>
            <a:ext cx="523240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students in Indian higher education — tomorrow's first-time investors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210300" y="3848050"/>
            <a:ext cx="5232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spc="-150" kern="0" dirty="0">
                <a:solidFill>
                  <a:srgbClr val="0F7B4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1.1 crore</a:t>
            </a:r>
            <a:endParaRPr lang="en-US" sz="4800" dirty="0"/>
          </a:p>
        </p:txBody>
      </p:sp>
      <p:sp>
        <p:nvSpPr>
          <p:cNvPr id="15" name="Text 10"/>
          <p:cNvSpPr/>
          <p:nvPr/>
        </p:nvSpPr>
        <p:spPr>
          <a:xfrm>
            <a:off x="6210300" y="4495750"/>
            <a:ext cx="5232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commerce, management and engineering courses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210300" y="4914850"/>
            <a:ext cx="5232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spc="-100" kern="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1,00,000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6210300" y="5397450"/>
            <a:ext cx="523240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Year-1 target: ~60 partner colleges, starting inside the IEM-UEM network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0972800" y="6390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62000"/>
            <a:ext cx="588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spc="-1000" kern="0" dirty="0">
                <a:solidFill>
                  <a:srgbClr val="0F7B4C">
                    <a:alpha val="8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100</a:t>
            </a:r>
            <a:endParaRPr lang="en-US" sz="1600" dirty="0"/>
          </a:p>
        </p:txBody>
      </p:sp>
      <p:pic>
        <p:nvPicPr>
          <p:cNvPr id="3" name="Image 0" descr="IE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400" y="254000"/>
            <a:ext cx="765026" cy="533400"/>
          </a:xfrm>
          <a:prstGeom prst="rect">
            <a:avLst/>
          </a:prstGeom>
        </p:spPr>
      </p:pic>
      <p:pic>
        <p:nvPicPr>
          <p:cNvPr id="4" name="Image 1" descr="UEM">    </p:cNvPr>
          <p:cNvPicPr>
            <a:picLocks noChangeAspect="1"/>
          </p:cNvPicPr>
          <p:nvPr/>
        </p:nvPicPr>
        <p:blipFill>
          <a:blip r:embed="rId2"/>
          <a:srcRect l="0" r="0" t="-2" b="-2"/>
          <a:stretch/>
        </p:blipFill>
        <p:spPr>
          <a:xfrm>
            <a:off x="11039574" y="254000"/>
            <a:ext cx="746026" cy="533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2800" y="1786136"/>
            <a:ext cx="497078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TRACTION — PROOF, NOT PROJECTION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812800" y="2195066"/>
            <a:ext cx="4970780" cy="1657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84"/>
              </a:lnSpc>
              <a:buNone/>
            </a:pPr>
            <a:r>
              <a:rPr lang="en-US" sz="4200" spc="-100" kern="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100 MBA students.</a:t>
            </a:r>
            <a:endParaRPr lang="en-US" sz="4200" dirty="0"/>
          </a:p>
          <a:p>
            <a:pPr algn="l" indent="0" marL="0">
              <a:lnSpc>
                <a:spcPts val="4284"/>
              </a:lnSpc>
              <a:buNone/>
            </a:pPr>
            <a:r>
              <a:rPr lang="en-US" sz="4200" spc="-100" kern="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One live room.</a:t>
            </a:r>
            <a:endParaRPr lang="en-US" sz="4200" dirty="0"/>
          </a:p>
          <a:p>
            <a:pPr algn="l" indent="0" marL="0">
              <a:lnSpc>
                <a:spcPts val="4284"/>
              </a:lnSpc>
              <a:buNone/>
            </a:pPr>
            <a:r>
              <a:rPr lang="en-US" sz="4200" spc="-100" kern="0" dirty="0">
                <a:solidFill>
                  <a:srgbClr val="0F7B4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₹0 at risk.</a:t>
            </a:r>
            <a:endParaRPr lang="en-US" sz="4200" dirty="0"/>
          </a:p>
        </p:txBody>
      </p:sp>
      <p:sp>
        <p:nvSpPr>
          <p:cNvPr id="7" name="Shape 3"/>
          <p:cNvSpPr/>
          <p:nvPr/>
        </p:nvSpPr>
        <p:spPr>
          <a:xfrm>
            <a:off x="812800" y="4005064"/>
            <a:ext cx="1651000" cy="88900"/>
          </a:xfrm>
          <a:prstGeom prst="roundRect">
            <a:avLst>
              <a:gd name="adj" fmla="val 50000"/>
            </a:avLst>
          </a:prstGeom>
          <a:solidFill>
            <a:srgbClr val="E8A800"/>
          </a:solidFill>
          <a:ln/>
        </p:spPr>
      </p:sp>
      <p:sp>
        <p:nvSpPr>
          <p:cNvPr id="8" name="Text 4"/>
          <p:cNvSpPr/>
          <p:nvPr/>
        </p:nvSpPr>
        <p:spPr>
          <a:xfrm>
            <a:off x="812800" y="4271764"/>
            <a:ext cx="497078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Piloted with IEM's MBA batch on live NSE/BSE data. The product on this screen is the product students are already using.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197600" y="1066800"/>
            <a:ext cx="5080000" cy="4064000"/>
          </a:xfrm>
          <a:prstGeom prst="roundRect">
            <a:avLst>
              <a:gd name="adj" fmla="val 4375"/>
            </a:avLst>
          </a:prstGeom>
          <a:solidFill>
            <a:srgbClr val="F9EBBF"/>
          </a:solidFill>
          <a:ln/>
        </p:spPr>
      </p:sp>
      <p:pic>
        <p:nvPicPr>
          <p:cNvPr id="10" name="Image 2" descr="Portfolio summary and analytics from a live TradeSim room">    </p:cNvPr>
          <p:cNvPicPr>
            <a:picLocks noChangeAspect="1"/>
          </p:cNvPicPr>
          <p:nvPr/>
        </p:nvPicPr>
        <p:blipFill>
          <a:blip r:embed="rId3"/>
          <a:srcRect l="0" r="0" t="257" b="257"/>
          <a:stretch/>
        </p:blipFill>
        <p:spPr>
          <a:xfrm>
            <a:off x="5962650" y="1466850"/>
            <a:ext cx="5168900" cy="2921000"/>
          </a:xfrm>
          <a:prstGeom prst="rect">
            <a:avLst/>
          </a:prstGeom>
          <a:effectLst>
            <a:outerShdw sx="100000" sy="100000" kx="0" ky="0" algn="bl" rotWithShape="0" blurRad="0" dist="161645" dir="2700000">
              <a:srgbClr val="14213D">
                <a:alpha val="100000"/>
              </a:srgbClr>
            </a:outerShdw>
          </a:effectLst>
        </p:spPr>
      </p:pic>
      <p:sp>
        <p:nvSpPr>
          <p:cNvPr id="11" name="Shape 6"/>
          <p:cNvSpPr/>
          <p:nvPr/>
        </p:nvSpPr>
        <p:spPr>
          <a:xfrm>
            <a:off x="5953125" y="1457325"/>
            <a:ext cx="5187950" cy="2940050"/>
          </a:xfrm>
          <a:prstGeom prst="rect">
            <a:avLst/>
          </a:prstGeom>
          <a:noFill/>
          <a:ln w="19050">
            <a:solidFill>
              <a:srgbClr val="14213D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 rot="180000">
            <a:off x="9251950" y="1148060"/>
            <a:ext cx="2082800" cy="35560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0" dist="53882" dir="2700000">
              <a:srgbClr val="0F7B4C">
                <a:alpha val="100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 rot="180000">
            <a:off x="9370475" y="1217893"/>
            <a:ext cx="1844421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IEM MBA pilot · 2026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943600" y="47498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P&amp;L, positions and analytics — every trade auditable by faculty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972800" y="6390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E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400" y="254000"/>
            <a:ext cx="765026" cy="533400"/>
          </a:xfrm>
          <a:prstGeom prst="rect">
            <a:avLst/>
          </a:prstGeom>
        </p:spPr>
      </p:pic>
      <p:pic>
        <p:nvPicPr>
          <p:cNvPr id="3" name="Image 1" descr="UEM">    </p:cNvPr>
          <p:cNvPicPr>
            <a:picLocks noChangeAspect="1"/>
          </p:cNvPicPr>
          <p:nvPr/>
        </p:nvPicPr>
        <p:blipFill>
          <a:blip r:embed="rId2"/>
          <a:srcRect l="0" r="0" t="-2" b="-2"/>
          <a:stretch/>
        </p:blipFill>
        <p:spPr>
          <a:xfrm>
            <a:off x="11039574" y="254000"/>
            <a:ext cx="746026" cy="533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812800"/>
            <a:ext cx="625900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812800" y="1120130"/>
            <a:ext cx="6259003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spc="-100" kern="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Students never pay. Colleges do.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7716520" y="931614"/>
            <a:ext cx="3662680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Priced against Seekho (₹149/mo), Sensibull Lite (₹480/mo) and campus software at ₹99–279 per student per year.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822325" y="3971875"/>
            <a:ext cx="3155950" cy="1631950"/>
          </a:xfrm>
          <a:prstGeom prst="roundRect">
            <a:avLst>
              <a:gd name="adj" fmla="val 7198"/>
            </a:avLst>
          </a:prstGeom>
          <a:solidFill>
            <a:srgbClr val="FFFDF6"/>
          </a:solidFill>
          <a:ln w="19050">
            <a:solidFill>
              <a:srgbClr val="14213D"/>
            </a:solidFill>
            <a:prstDash val="solid"/>
          </a:ln>
          <a:effectLst>
            <a:outerShdw sx="100000" sy="100000" kx="0" ky="0" algn="bl" rotWithShape="0" blurRad="0" dist="125724" dir="2700000">
              <a:srgbClr val="14213D">
                <a:alpha val="10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1041400" y="4165550"/>
            <a:ext cx="28124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FREE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41400" y="4419550"/>
            <a:ext cx="28124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₹0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1041400" y="5016450"/>
            <a:ext cx="2812415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 simulator, live data. Ads shown. No AI coach.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18025" y="3082875"/>
            <a:ext cx="3155950" cy="2520950"/>
          </a:xfrm>
          <a:prstGeom prst="roundRect">
            <a:avLst>
              <a:gd name="adj" fmla="val 4660"/>
            </a:avLst>
          </a:prstGeom>
          <a:solidFill>
            <a:srgbClr val="FFFDF6"/>
          </a:solidFill>
          <a:ln w="19050">
            <a:solidFill>
              <a:srgbClr val="14213D"/>
            </a:solidFill>
            <a:prstDash val="solid"/>
          </a:ln>
          <a:effectLst>
            <a:outerShdw sx="100000" sy="100000" kx="0" ky="0" algn="bl" rotWithShape="0" blurRad="0" dist="125724" dir="2700000">
              <a:srgbClr val="E8A800">
                <a:alpha val="10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737100" y="3276550"/>
            <a:ext cx="28124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INDIVIDUAL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37100" y="3530550"/>
            <a:ext cx="28124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₹149</a:t>
            </a:r>
            <a:r>
              <a:rPr lang="en-US" sz="4000" dirty="0">
                <a:solidFill>
                  <a:srgbClr val="9A6B00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/mo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4737100" y="4127450"/>
            <a:ext cx="2812415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 ₹999 a year. Ad-free. AI trade coach when it ships. Priced below one Sensibull month.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213725" y="2066875"/>
            <a:ext cx="3155950" cy="3536950"/>
          </a:xfrm>
          <a:prstGeom prst="roundRect">
            <a:avLst>
              <a:gd name="adj" fmla="val 3722"/>
            </a:avLst>
          </a:prstGeom>
          <a:solidFill>
            <a:srgbClr val="D6EFDF"/>
          </a:solidFill>
          <a:ln w="19050">
            <a:solidFill>
              <a:srgbClr val="14213D"/>
            </a:solidFill>
            <a:prstDash val="solid"/>
          </a:ln>
          <a:effectLst>
            <a:outerShdw sx="100000" sy="100000" kx="0" ky="0" algn="bl" rotWithShape="0" blurRad="0" dist="125724" dir="2700000">
              <a:srgbClr val="0F7B4C">
                <a:alpha val="10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432800" y="2260550"/>
            <a:ext cx="281241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0F7B4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INSTITUTION · CORE REVENUE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432800" y="2514550"/>
            <a:ext cx="28124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₹199</a:t>
            </a:r>
            <a:endParaRPr lang="en-US" sz="4000" dirty="0"/>
          </a:p>
        </p:txBody>
      </p:sp>
      <p:sp>
        <p:nvSpPr>
          <p:cNvPr id="18" name="Text 14"/>
          <p:cNvSpPr/>
          <p:nvPr/>
        </p:nvSpPr>
        <p:spPr>
          <a:xfrm>
            <a:off x="8432800" y="3073350"/>
            <a:ext cx="281241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 student, per year</a:t>
            </a:r>
            <a:endParaRPr lang="en-US" sz="14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₹50,000 minimum per college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8432800" y="3708350"/>
            <a:ext cx="2812415" cy="1181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College licenses its student strength. Students get the full product free. Faculty get admin rooms, cohort reports and every trade on record.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432800" y="4914850"/>
            <a:ext cx="281241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7B4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1,000 students = ₹1.99 lakh a year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0972800" y="6390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E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400" y="254000"/>
            <a:ext cx="765026" cy="533400"/>
          </a:xfrm>
          <a:prstGeom prst="rect">
            <a:avLst/>
          </a:prstGeom>
        </p:spPr>
      </p:pic>
      <p:pic>
        <p:nvPicPr>
          <p:cNvPr id="3" name="Image 1" descr="UEM">    </p:cNvPr>
          <p:cNvPicPr>
            <a:picLocks noChangeAspect="1"/>
          </p:cNvPicPr>
          <p:nvPr/>
        </p:nvPicPr>
        <p:blipFill>
          <a:blip r:embed="rId2"/>
          <a:srcRect l="0" r="0" t="-2" b="-2"/>
          <a:stretch/>
        </p:blipFill>
        <p:spPr>
          <a:xfrm>
            <a:off x="11039574" y="254000"/>
            <a:ext cx="746026" cy="533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8128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UNIT ECONOMICS · AT 1,00,000 USERS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812800" y="1120130"/>
            <a:ext cx="1088339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spc="-100" kern="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Break-even in year one. Margin on every renewal.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812800" y="5308550"/>
            <a:ext cx="6096000" cy="1905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7" name="Shape 3"/>
          <p:cNvSpPr/>
          <p:nvPr/>
        </p:nvSpPr>
        <p:spPr>
          <a:xfrm>
            <a:off x="1320800" y="2705050"/>
            <a:ext cx="1397000" cy="2603500"/>
          </a:xfrm>
          <a:prstGeom prst="roundRect">
            <a:avLst>
              <a:gd name="adj" fmla="val 2727"/>
            </a:avLst>
          </a:prstGeom>
          <a:solidFill>
            <a:srgbClr val="0F7B4C"/>
          </a:solidFill>
          <a:ln/>
        </p:spPr>
      </p:sp>
      <p:sp>
        <p:nvSpPr>
          <p:cNvPr id="8" name="Shape 4"/>
          <p:cNvSpPr/>
          <p:nvPr/>
        </p:nvSpPr>
        <p:spPr>
          <a:xfrm>
            <a:off x="1320800" y="2349450"/>
            <a:ext cx="1397000" cy="342900"/>
          </a:xfrm>
          <a:prstGeom prst="rect">
            <a:avLst/>
          </a:prstGeom>
          <a:solidFill>
            <a:srgbClr val="E8A800"/>
          </a:solidFill>
          <a:ln/>
        </p:spPr>
      </p:sp>
      <p:sp>
        <p:nvSpPr>
          <p:cNvPr id="9" name="Shape 5"/>
          <p:cNvSpPr/>
          <p:nvPr/>
        </p:nvSpPr>
        <p:spPr>
          <a:xfrm>
            <a:off x="1320800" y="2120850"/>
            <a:ext cx="1397000" cy="215900"/>
          </a:xfrm>
          <a:prstGeom prst="roundRect">
            <a:avLst>
              <a:gd name="adj" fmla="val 17647"/>
            </a:avLst>
          </a:prstGeom>
          <a:solidFill>
            <a:srgbClr val="14213D"/>
          </a:solidFill>
          <a:ln/>
        </p:spPr>
      </p:sp>
      <p:sp>
        <p:nvSpPr>
          <p:cNvPr id="10" name="Text 6"/>
          <p:cNvSpPr/>
          <p:nvPr/>
        </p:nvSpPr>
        <p:spPr>
          <a:xfrm>
            <a:off x="2844800" y="3886150"/>
            <a:ext cx="19621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Institutions</a:t>
            </a:r>
            <a:endParaRPr lang="en-US" sz="14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7B4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₹1.19 Cr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844800" y="2412950"/>
            <a:ext cx="196215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Ads · ₹15.6 L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320800" y="1841450"/>
            <a:ext cx="2616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Paid individuals · ₹10 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38225" y="5422850"/>
            <a:ext cx="1962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₹1.45 Cr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038225" y="572765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F7B4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241800" y="4387800"/>
            <a:ext cx="1397000" cy="920750"/>
          </a:xfrm>
          <a:prstGeom prst="rect">
            <a:avLst/>
          </a:prstGeom>
          <a:solidFill>
            <a:srgbClr val="C1272D"/>
          </a:solidFill>
          <a:ln/>
        </p:spPr>
      </p:sp>
      <p:sp>
        <p:nvSpPr>
          <p:cNvPr id="16" name="Shape 12"/>
          <p:cNvSpPr/>
          <p:nvPr/>
        </p:nvSpPr>
        <p:spPr>
          <a:xfrm>
            <a:off x="4241800" y="3321000"/>
            <a:ext cx="1397000" cy="10541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7" name="Shape 13"/>
          <p:cNvSpPr/>
          <p:nvPr/>
        </p:nvSpPr>
        <p:spPr>
          <a:xfrm>
            <a:off x="4241800" y="2654250"/>
            <a:ext cx="1397000" cy="654050"/>
          </a:xfrm>
          <a:prstGeom prst="rect">
            <a:avLst/>
          </a:prstGeom>
          <a:solidFill>
            <a:srgbClr val="E8807C"/>
          </a:solidFill>
          <a:ln/>
        </p:spPr>
      </p:sp>
      <p:sp>
        <p:nvSpPr>
          <p:cNvPr id="18" name="Shape 14"/>
          <p:cNvSpPr/>
          <p:nvPr/>
        </p:nvSpPr>
        <p:spPr>
          <a:xfrm>
            <a:off x="4241800" y="2425650"/>
            <a:ext cx="1397000" cy="215900"/>
          </a:xfrm>
          <a:prstGeom prst="rect">
            <a:avLst/>
          </a:prstGeom>
          <a:solidFill>
            <a:srgbClr val="F2ADAA"/>
          </a:solidFill>
          <a:ln/>
        </p:spPr>
      </p:sp>
      <p:sp>
        <p:nvSpPr>
          <p:cNvPr id="19" name="Shape 15"/>
          <p:cNvSpPr/>
          <p:nvPr/>
        </p:nvSpPr>
        <p:spPr>
          <a:xfrm>
            <a:off x="4241800" y="2197050"/>
            <a:ext cx="1397000" cy="215900"/>
          </a:xfrm>
          <a:prstGeom prst="roundRect">
            <a:avLst>
              <a:gd name="adj" fmla="val 17647"/>
            </a:avLst>
          </a:prstGeom>
          <a:solidFill>
            <a:srgbClr val="F8D7D5"/>
          </a:solidFill>
          <a:ln/>
        </p:spPr>
      </p:sp>
      <p:sp>
        <p:nvSpPr>
          <p:cNvPr id="20" name="Text 16"/>
          <p:cNvSpPr/>
          <p:nvPr/>
        </p:nvSpPr>
        <p:spPr>
          <a:xfrm>
            <a:off x="5765800" y="4737050"/>
            <a:ext cx="1193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 ₹42 L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765800" y="3740100"/>
            <a:ext cx="1193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Sales ₹48 L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765800" y="2870150"/>
            <a:ext cx="1193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Cloud ₹30 L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765800" y="2425650"/>
            <a:ext cx="1193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₹10 L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765800" y="2197050"/>
            <a:ext cx="1193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Ops ₹10 L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3959225" y="5422850"/>
            <a:ext cx="1962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₹1.40 Cr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3959225" y="572765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127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COST · YEAR 1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7213600" y="2086719"/>
            <a:ext cx="4165600" cy="0"/>
          </a:xfrm>
          <a:prstGeom prst="line">
            <a:avLst/>
          </a:prstGeom>
          <a:noFill/>
          <a:ln w="12700">
            <a:solidFill>
              <a:srgbClr val="14213D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213600" y="2232769"/>
            <a:ext cx="1320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dirty="0">
                <a:solidFill>
                  <a:srgbClr val="0F7B4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80%</a:t>
            </a:r>
            <a:endParaRPr lang="en-US" sz="4000" dirty="0"/>
          </a:p>
        </p:txBody>
      </p:sp>
      <p:sp>
        <p:nvSpPr>
          <p:cNvPr id="29" name="Text 25"/>
          <p:cNvSpPr/>
          <p:nvPr/>
        </p:nvSpPr>
        <p:spPr>
          <a:xfrm>
            <a:off x="8636000" y="2486769"/>
            <a:ext cx="282549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contribution per student: ₹199 price − ₹40 cloud &amp; data = ₹159</a:t>
            </a:r>
            <a:endParaRPr lang="en-US" sz="1350" dirty="0"/>
          </a:p>
        </p:txBody>
      </p:sp>
      <p:sp>
        <p:nvSpPr>
          <p:cNvPr id="30" name="Shape 26"/>
          <p:cNvSpPr/>
          <p:nvPr/>
        </p:nvSpPr>
        <p:spPr>
          <a:xfrm>
            <a:off x="7213600" y="3075335"/>
            <a:ext cx="4165600" cy="0"/>
          </a:xfrm>
          <a:prstGeom prst="line">
            <a:avLst/>
          </a:prstGeom>
          <a:noFill/>
          <a:ln w="6350">
            <a:solidFill>
              <a:srgbClr val="C9BB8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213600" y="3218210"/>
            <a:ext cx="1320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dirty="0">
                <a:solidFill>
                  <a:srgbClr val="0F7B4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4 : 1</a:t>
            </a:r>
            <a:endParaRPr lang="en-US" sz="4000" dirty="0"/>
          </a:p>
        </p:txBody>
      </p:sp>
      <p:sp>
        <p:nvSpPr>
          <p:cNvPr id="32" name="Text 28"/>
          <p:cNvSpPr/>
          <p:nvPr/>
        </p:nvSpPr>
        <p:spPr>
          <a:xfrm>
            <a:off x="8636000" y="3472210"/>
            <a:ext cx="2825496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LTV to CAC per college: ₹3.2 L over a 2-year contract vs ₹0.8 L to sign</a:t>
            </a:r>
            <a:endParaRPr lang="en-US" sz="1350" dirty="0"/>
          </a:p>
        </p:txBody>
      </p:sp>
      <p:sp>
        <p:nvSpPr>
          <p:cNvPr id="33" name="Shape 29"/>
          <p:cNvSpPr/>
          <p:nvPr/>
        </p:nvSpPr>
        <p:spPr>
          <a:xfrm>
            <a:off x="7213600" y="4283621"/>
            <a:ext cx="4165600" cy="0"/>
          </a:xfrm>
          <a:prstGeom prst="line">
            <a:avLst/>
          </a:prstGeom>
          <a:noFill/>
          <a:ln w="6350">
            <a:solidFill>
              <a:srgbClr val="C9BB8E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213600" y="4426496"/>
            <a:ext cx="1320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dirty="0">
                <a:solidFill>
                  <a:srgbClr val="0F7B4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35%</a:t>
            </a:r>
            <a:endParaRPr lang="en-US" sz="4000" dirty="0"/>
          </a:p>
        </p:txBody>
      </p:sp>
      <p:sp>
        <p:nvSpPr>
          <p:cNvPr id="35" name="Text 31"/>
          <p:cNvSpPr/>
          <p:nvPr/>
        </p:nvSpPr>
        <p:spPr>
          <a:xfrm>
            <a:off x="8636000" y="4680496"/>
            <a:ext cx="2825496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margin in year 2: same colleges renew, ₹48 L of sales cost disappears</a:t>
            </a:r>
            <a:endParaRPr lang="en-US" sz="1350" dirty="0"/>
          </a:p>
        </p:txBody>
      </p:sp>
      <p:sp>
        <p:nvSpPr>
          <p:cNvPr id="36" name="Text 32"/>
          <p:cNvSpPr/>
          <p:nvPr/>
        </p:nvSpPr>
        <p:spPr>
          <a:xfrm>
            <a:off x="10972800" y="6390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E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400" y="254000"/>
            <a:ext cx="765026" cy="533400"/>
          </a:xfrm>
          <a:prstGeom prst="rect">
            <a:avLst/>
          </a:prstGeom>
        </p:spPr>
      </p:pic>
      <p:pic>
        <p:nvPicPr>
          <p:cNvPr id="3" name="Image 1" descr="UEM">    </p:cNvPr>
          <p:cNvPicPr>
            <a:picLocks noChangeAspect="1"/>
          </p:cNvPicPr>
          <p:nvPr/>
        </p:nvPicPr>
        <p:blipFill>
          <a:blip r:embed="rId2"/>
          <a:srcRect l="0" r="0" t="-2" b="-2"/>
          <a:stretch/>
        </p:blipFill>
        <p:spPr>
          <a:xfrm>
            <a:off x="11039574" y="254000"/>
            <a:ext cx="746026" cy="533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812800"/>
            <a:ext cx="756081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GROWTH PLAN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812800" y="1120130"/>
            <a:ext cx="7560818" cy="98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spc="-100" kern="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One campus at a time, a thousand students at a time.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8370570" y="1634480"/>
            <a:ext cx="300863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Targets, not results. Revenue at today's prices and mix.</a:t>
            </a:r>
            <a:endParaRPr lang="en-US" sz="1300" dirty="0"/>
          </a:p>
        </p:txBody>
      </p:sp>
      <p:pic>
        <p:nvPicPr>
          <p:cNvPr id="7" name="Image 2" descr="Users growing from a 100-student pilot to 1 lakh in year one, 2.5 lakh in year two and 5 lakh in year three">    </p:cNvPr>
          <p:cNvPicPr>
            <a:picLocks noChangeAspect="1"/>
          </p:cNvPicPr>
          <p:nvPr/>
        </p:nvPicPr>
        <p:blipFill>
          <a:blip r:embed="rId3"/>
          <a:srcRect l="0" r="0" t="-31" b="-31"/>
          <a:stretch/>
        </p:blipFill>
        <p:spPr>
          <a:xfrm>
            <a:off x="812800" y="2232571"/>
            <a:ext cx="10566400" cy="3810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2800" y="4772571"/>
            <a:ext cx="1447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100</a:t>
            </a:r>
            <a:endParaRPr lang="en-US" sz="2800" dirty="0"/>
          </a:p>
        </p:txBody>
      </p:sp>
      <p:sp>
        <p:nvSpPr>
          <p:cNvPr id="9" name="Text 4"/>
          <p:cNvSpPr/>
          <p:nvPr/>
        </p:nvSpPr>
        <p:spPr>
          <a:xfrm>
            <a:off x="812800" y="5166271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students · IEM pilot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797300" y="4137571"/>
            <a:ext cx="1962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1,00,000</a:t>
            </a:r>
            <a:endParaRPr lang="en-US" sz="2800" dirty="0"/>
          </a:p>
        </p:txBody>
      </p:sp>
      <p:sp>
        <p:nvSpPr>
          <p:cNvPr id="11" name="Text 6"/>
          <p:cNvSpPr/>
          <p:nvPr/>
        </p:nvSpPr>
        <p:spPr>
          <a:xfrm>
            <a:off x="3797300" y="4531271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60 colleges · ₹1.45 Cr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908800" y="3413671"/>
            <a:ext cx="1962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2,50,000</a:t>
            </a:r>
            <a:endParaRPr lang="en-US" sz="2800" dirty="0"/>
          </a:p>
        </p:txBody>
      </p:sp>
      <p:sp>
        <p:nvSpPr>
          <p:cNvPr id="13" name="Text 8"/>
          <p:cNvSpPr/>
          <p:nvPr/>
        </p:nvSpPr>
        <p:spPr>
          <a:xfrm>
            <a:off x="6908800" y="3807371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150 colleges · ₹3.6 Cr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9195435" y="2232571"/>
            <a:ext cx="215836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200"/>
              </a:lnSpc>
              <a:buNone/>
            </a:pPr>
            <a:r>
              <a:rPr lang="en-US" sz="3200" dirty="0">
                <a:solidFill>
                  <a:srgbClr val="0F7B4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5,00,000</a:t>
            </a:r>
            <a:endParaRPr lang="en-US" sz="3200" dirty="0"/>
          </a:p>
        </p:txBody>
      </p:sp>
      <p:sp>
        <p:nvSpPr>
          <p:cNvPr id="15" name="Text 10"/>
          <p:cNvSpPr/>
          <p:nvPr/>
        </p:nvSpPr>
        <p:spPr>
          <a:xfrm>
            <a:off x="9195435" y="2677071"/>
            <a:ext cx="2158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300 colleges · ₹7.3 Cr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787400" y="5661571"/>
            <a:ext cx="1320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962400" y="5661571"/>
            <a:ext cx="1320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 1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137400" y="5661571"/>
            <a:ext cx="1320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 2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312400" y="5661571"/>
            <a:ext cx="1320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 3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 rot="21480000">
            <a:off x="8185150" y="4906516"/>
            <a:ext cx="2273300" cy="56515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0" dist="53882" dir="2700000">
              <a:srgbClr val="E8A800">
                <a:alpha val="10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 rot="21480000">
            <a:off x="8301925" y="4976358"/>
            <a:ext cx="2040636" cy="450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 3 = 4.5% of SAM, 0.6% of colleges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0972800" y="6390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E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400" y="254000"/>
            <a:ext cx="765026" cy="533400"/>
          </a:xfrm>
          <a:prstGeom prst="rect">
            <a:avLst/>
          </a:prstGeom>
        </p:spPr>
      </p:pic>
      <p:pic>
        <p:nvPicPr>
          <p:cNvPr id="3" name="Image 1" descr="UEM">    </p:cNvPr>
          <p:cNvPicPr>
            <a:picLocks noChangeAspect="1"/>
          </p:cNvPicPr>
          <p:nvPr/>
        </p:nvPicPr>
        <p:blipFill>
          <a:blip r:embed="rId2"/>
          <a:srcRect l="0" r="0" t="-2" b="-2"/>
          <a:stretch/>
        </p:blipFill>
        <p:spPr>
          <a:xfrm>
            <a:off x="11039574" y="254000"/>
            <a:ext cx="746026" cy="533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812800"/>
            <a:ext cx="782243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812800" y="1120130"/>
            <a:ext cx="7822438" cy="98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spc="-100" kern="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Real market, or built for a class. Nobody does both.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8632190" y="1188789"/>
            <a:ext cx="2747010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Indian broker sells paper trading. Zerodha bundles Sensibull; Groww and Angel One have none.</a:t>
            </a:r>
            <a:endParaRPr lang="en-US" sz="1300" dirty="0"/>
          </a:p>
        </p:txBody>
      </p:sp>
      <p:pic>
        <p:nvPicPr>
          <p:cNvPr id="7" name="Image 2" descr="Positioning map: TradeSim alone in the quadrant with live Indian market data and classroom hosting">    </p:cNvPr>
          <p:cNvPicPr>
            <a:picLocks noChangeAspect="1"/>
          </p:cNvPicPr>
          <p:nvPr/>
        </p:nvPicPr>
        <p:blipFill>
          <a:blip r:embed="rId3"/>
          <a:srcRect l="0" r="0" t="-31" b="-31"/>
          <a:stretch/>
        </p:blipFill>
        <p:spPr>
          <a:xfrm>
            <a:off x="812800" y="2232571"/>
            <a:ext cx="10566400" cy="3810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2800" y="2232571"/>
            <a:ext cx="939800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Faculty-hosted rooms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812800" y="5407571"/>
            <a:ext cx="93980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Solo learner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892300" y="5839371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Content only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8756650" y="5839371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NSE / BSE trading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2740025" y="5112296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035300" y="5090071"/>
            <a:ext cx="18313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Zerodha Varsity · free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359025" y="4540796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654300" y="4518571"/>
            <a:ext cx="18313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Seekho · ₹149/mo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375025" y="3080296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670300" y="2981871"/>
            <a:ext cx="20929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Investopedia Simulator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 stocks only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963025" y="5112296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258300" y="5090071"/>
            <a:ext cx="18313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Moneybhai · free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201025" y="4667796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496300" y="4645571"/>
            <a:ext cx="18313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Sensibull · ₹480/mo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058025" y="5302796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353300" y="5280571"/>
            <a:ext cx="183134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TradingView · ₹995/mo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9410700" y="2765971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0F7B4C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0" dist="53882" dir="2700000">
              <a:srgbClr val="14213D">
                <a:alpha val="10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9855200" y="2677071"/>
            <a:ext cx="15113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TradeSim</a:t>
            </a:r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9855200" y="3032671"/>
            <a:ext cx="1511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7B4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₹199 / student / yr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146800" y="3502571"/>
            <a:ext cx="2616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F7B4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DATA + HOSTED ROOMS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10972800" y="6390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E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400" y="254000"/>
            <a:ext cx="765026" cy="533400"/>
          </a:xfrm>
          <a:prstGeom prst="rect">
            <a:avLst/>
          </a:prstGeom>
        </p:spPr>
      </p:pic>
      <p:pic>
        <p:nvPicPr>
          <p:cNvPr id="3" name="Image 1" descr="UEM">    </p:cNvPr>
          <p:cNvPicPr>
            <a:picLocks noChangeAspect="1"/>
          </p:cNvPicPr>
          <p:nvPr/>
        </p:nvPicPr>
        <p:blipFill>
          <a:blip r:embed="rId2"/>
          <a:srcRect l="0" r="0" t="-2" b="-2"/>
          <a:stretch/>
        </p:blipFill>
        <p:spPr>
          <a:xfrm>
            <a:off x="11039574" y="254000"/>
            <a:ext cx="746026" cy="533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8128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812800" y="1120130"/>
            <a:ext cx="1088339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spc="-100" kern="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From a simulator to a coach.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812800" y="1955750"/>
            <a:ext cx="10566400" cy="76200"/>
          </a:xfrm>
          <a:prstGeom prst="roundRect">
            <a:avLst>
              <a:gd name="adj" fmla="val 50000"/>
            </a:avLst>
          </a:prstGeom>
          <a:solidFill>
            <a:srgbClr val="E8A800"/>
          </a:solidFill>
          <a:ln/>
        </p:spPr>
      </p:sp>
      <p:sp>
        <p:nvSpPr>
          <p:cNvPr id="7" name="Shape 3"/>
          <p:cNvSpPr/>
          <p:nvPr/>
        </p:nvSpPr>
        <p:spPr>
          <a:xfrm>
            <a:off x="812800" y="1955750"/>
            <a:ext cx="3302000" cy="76200"/>
          </a:xfrm>
          <a:prstGeom prst="roundRect">
            <a:avLst>
              <a:gd name="adj" fmla="val 50000"/>
            </a:avLst>
          </a:prstGeom>
          <a:solidFill>
            <a:srgbClr val="0F7B4C"/>
          </a:solidFill>
          <a:ln/>
        </p:spPr>
      </p:sp>
      <p:sp>
        <p:nvSpPr>
          <p:cNvPr id="8" name="Shape 4"/>
          <p:cNvSpPr/>
          <p:nvPr/>
        </p:nvSpPr>
        <p:spPr>
          <a:xfrm>
            <a:off x="822325" y="2346275"/>
            <a:ext cx="3155950" cy="3028950"/>
          </a:xfrm>
          <a:prstGeom prst="roundRect">
            <a:avLst>
              <a:gd name="adj" fmla="val 3878"/>
            </a:avLst>
          </a:prstGeom>
          <a:solidFill>
            <a:srgbClr val="FFFDF6"/>
          </a:solidFill>
          <a:ln w="19050">
            <a:solidFill>
              <a:srgbClr val="14213D"/>
            </a:solidFill>
            <a:prstDash val="solid"/>
          </a:ln>
          <a:effectLst>
            <a:outerShdw sx="100000" sy="100000" kx="0" ky="0" algn="bl" rotWithShape="0" blurRad="0" dist="125724" dir="2700000">
              <a:srgbClr val="0F7B4C">
                <a:alpha val="10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1041400" y="2539950"/>
            <a:ext cx="28124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0F7B4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NOW · SHIPPED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41400" y="2844750"/>
            <a:ext cx="2812415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Hosted competitions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041400" y="3670250"/>
            <a:ext cx="2812415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NSE/BSE data, full order types, room leaderboard, faculty admin view. Running at IEM.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518025" y="2346275"/>
            <a:ext cx="3155950" cy="3028950"/>
          </a:xfrm>
          <a:prstGeom prst="roundRect">
            <a:avLst>
              <a:gd name="adj" fmla="val 3878"/>
            </a:avLst>
          </a:prstGeom>
          <a:solidFill>
            <a:srgbClr val="FFFDF6"/>
          </a:solidFill>
          <a:ln w="19050">
            <a:solidFill>
              <a:srgbClr val="14213D"/>
            </a:solidFill>
            <a:prstDash val="solid"/>
          </a:ln>
          <a:effectLst>
            <a:outerShdw sx="100000" sy="100000" kx="0" ky="0" algn="bl" rotWithShape="0" blurRad="0" dist="125724" dir="2700000">
              <a:srgbClr val="E8A800">
                <a:alpha val="10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737100" y="2539950"/>
            <a:ext cx="28124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NEXT · 12 MONTHS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737100" y="2844750"/>
            <a:ext cx="2812415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AI trade coach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4737100" y="3670250"/>
            <a:ext cx="2812415" cy="98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Reviews every trade, flags the mistake, explains why in plain language. Compares you to the room. Paid tier.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213725" y="2346275"/>
            <a:ext cx="3155950" cy="3028950"/>
          </a:xfrm>
          <a:prstGeom prst="roundRect">
            <a:avLst>
              <a:gd name="adj" fmla="val 3878"/>
            </a:avLst>
          </a:prstGeom>
          <a:solidFill>
            <a:srgbClr val="FFFDF6"/>
          </a:solidFill>
          <a:ln w="19050">
            <a:solidFill>
              <a:srgbClr val="14213D"/>
            </a:solidFill>
            <a:prstDash val="solid"/>
          </a:ln>
          <a:effectLst>
            <a:outerShdw sx="100000" sy="100000" kx="0" ky="0" algn="bl" rotWithShape="0" blurRad="0" dist="125724" dir="2700000">
              <a:srgbClr val="14213D">
                <a:alpha val="10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432800" y="2539950"/>
            <a:ext cx="28124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LATER · 24 MONTHS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432800" y="2844750"/>
            <a:ext cx="2812415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Campus analytics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432800" y="3670250"/>
            <a:ext cx="2812415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Cohort dashboards for faculty, inter-college leagues, placement-ready trading records.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10972800" y="6390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sing market 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IEM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6400" y="254000"/>
            <a:ext cx="874316" cy="609600"/>
          </a:xfrm>
          <a:prstGeom prst="rect">
            <a:avLst/>
          </a:prstGeom>
        </p:spPr>
      </p:pic>
      <p:pic>
        <p:nvPicPr>
          <p:cNvPr id="4" name="Image 2" descr="UEM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932964" y="254000"/>
            <a:ext cx="852636" cy="6096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12800" y="812800"/>
            <a:ext cx="10883392" cy="256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CLOSE</a:t>
            </a:r>
            <a:endParaRPr lang="en-US" sz="1300" dirty="0"/>
          </a:p>
        </p:txBody>
      </p:sp>
      <p:sp>
        <p:nvSpPr>
          <p:cNvPr id="6" name="Text 1"/>
          <p:cNvSpPr/>
          <p:nvPr/>
        </p:nvSpPr>
        <p:spPr>
          <a:xfrm>
            <a:off x="812800" y="1297831"/>
            <a:ext cx="9156700" cy="2718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304"/>
              </a:lnSpc>
              <a:buNone/>
            </a:pPr>
            <a:r>
              <a:rPr lang="en-US" sz="5200" spc="-150" kern="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India learns to trade at full price.</a:t>
            </a:r>
            <a:endParaRPr lang="en-US" sz="5200" dirty="0"/>
          </a:p>
          <a:p>
            <a:pPr algn="l" indent="0" marL="0">
              <a:lnSpc>
                <a:spcPts val="5304"/>
              </a:lnSpc>
              <a:buNone/>
            </a:pPr>
            <a:r>
              <a:rPr lang="en-US" sz="5200" spc="-150" kern="0" dirty="0">
                <a:solidFill>
                  <a:srgbClr val="0F7B4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Our students learn on TradeSim first.</a:t>
            </a:r>
            <a:endParaRPr lang="en-US" sz="5200" dirty="0"/>
          </a:p>
        </p:txBody>
      </p:sp>
      <p:sp>
        <p:nvSpPr>
          <p:cNvPr id="7" name="Shape 2"/>
          <p:cNvSpPr/>
          <p:nvPr/>
        </p:nvSpPr>
        <p:spPr>
          <a:xfrm>
            <a:off x="812800" y="4244925"/>
            <a:ext cx="2032000" cy="88900"/>
          </a:xfrm>
          <a:prstGeom prst="roundRect">
            <a:avLst>
              <a:gd name="adj" fmla="val 50000"/>
            </a:avLst>
          </a:prstGeom>
          <a:solidFill>
            <a:srgbClr val="E8A800"/>
          </a:solidFill>
          <a:ln/>
        </p:spPr>
      </p:sp>
      <p:sp>
        <p:nvSpPr>
          <p:cNvPr id="8" name="Text 3"/>
          <p:cNvSpPr/>
          <p:nvPr/>
        </p:nvSpPr>
        <p:spPr>
          <a:xfrm>
            <a:off x="812800" y="4587825"/>
            <a:ext cx="8502650" cy="642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100 students at IEM already do. Bring the next room to your campus — we set it up, your faculty runs it.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819150" y="5617319"/>
            <a:ext cx="2559000" cy="42163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0" dist="53882" dir="2700000">
              <a:srgbClr val="E8A800">
                <a:alpha val="100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1016000" y="5712569"/>
            <a:ext cx="223025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80170 24589 · 93322 35642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3689300" y="5712569"/>
            <a:ext cx="476439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Ratul Mukherjee · Shinjini Chakraborty · Deepan Sadhukhan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TradeSim — IIM Calcutta Pitch</dc:title>
  <dc:subject>PptxGenJS Presentation</dc:subject>
  <dc:creator>PptxGenJS</dc:creator>
  <cp:lastModifiedBy>PptxGenJS</cp:lastModifiedBy>
  <cp:revision>1</cp:revision>
  <dcterms:created xsi:type="dcterms:W3CDTF">2026-09-22T08:42:54Z</dcterms:created>
  <dcterms:modified xsi:type="dcterms:W3CDTF">2026-09-22T08:42:54Z</dcterms:modified>
</cp:coreProperties>
</file>